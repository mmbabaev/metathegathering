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ot-avat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310896"/>
            <a:ext cx="566928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53312" y="475488"/>
            <a:ext cx="36576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1">
                <a:solidFill>
                  <a:srgbClr val="D6A928"/>
                </a:solidFill>
                <a:latin typeface="Aptos"/>
              </a:defRPr>
            </a:pPr>
            <a:r>
              <a:t>METAGATHERER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024128"/>
            <a:ext cx="6766560" cy="1417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3400" b="1">
                <a:solidFill>
                  <a:srgbClr val="F7F3E8"/>
                </a:solidFill>
                <a:latin typeface="Aptos"/>
              </a:defRPr>
            </a:pPr>
            <a:r>
              <a:t>Инфраструктура локального</a:t>
            </a:r>
            <a:br/>
            <a:r>
              <a:t>турнира в Telegram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670048"/>
            <a:ext cx="6126480" cy="8229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0">
                <a:solidFill>
                  <a:srgbClr val="AAB3C2"/>
                </a:solidFill>
                <a:latin typeface="Aptos"/>
              </a:defRPr>
            </a:pPr>
            <a:r>
              <a:t>Как убрать ручную координацию, собрать качественные данные</a:t>
            </a:r>
            <a:br/>
            <a:r>
              <a:t>и вернуть их игрокам в полезном виде.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3977639"/>
            <a:ext cx="164592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4114800"/>
            <a:ext cx="13258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4FC3B3"/>
                </a:solidFill>
                <a:latin typeface="Aptos"/>
              </a:defRPr>
            </a:pPr>
            <a:r>
              <a:t>1 чат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" y="4590288"/>
            <a:ext cx="13258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единая точка входа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3977639"/>
            <a:ext cx="178308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4114800"/>
            <a:ext cx="146304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D6A928"/>
                </a:solidFill>
                <a:latin typeface="Aptos"/>
              </a:defRPr>
            </a:pPr>
            <a:r>
              <a:t>4 стадии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4590288"/>
            <a:ext cx="14630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жизненный цикл турнира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3977639"/>
            <a:ext cx="192024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4114800"/>
            <a:ext cx="16002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5591E6"/>
                </a:solidFill>
                <a:latin typeface="Aptos"/>
              </a:defRPr>
            </a:pPr>
            <a:r>
              <a:t>3 источника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4590288"/>
            <a:ext cx="16002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данные и результаты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486400"/>
            <a:ext cx="5943600" cy="5029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7F3E8"/>
                </a:solidFill>
                <a:latin typeface="Aptos"/>
              </a:defRPr>
            </a:pPr>
            <a:r>
              <a:t>Кейс: Pauper — доступный соревновательный формат Magic: The Gathering</a:t>
            </a:r>
          </a:p>
        </p:txBody>
      </p:sp>
      <p:pic>
        <p:nvPicPr>
          <p:cNvPr id="16" name="Picture 15" descr="real-telegram-rec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566928"/>
            <a:ext cx="4409619" cy="59984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КОНТЕКСТ БЕЗ MTG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Что происходит на обычном клубном турнире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57400"/>
            <a:ext cx="2560320" cy="2103120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59" y="2267712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5591E6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06624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7F3E8"/>
                </a:solidFill>
                <a:latin typeface="Aptos"/>
              </a:defRPr>
            </a:pPr>
            <a:r>
              <a:t>До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36976"/>
            <a:ext cx="210312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Люди решают, придут ли,</a:t>
            </a:r>
            <a:br/>
            <a:r>
              <a:t>и записываются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93008" y="2057400"/>
            <a:ext cx="2560320" cy="2103120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2267712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4FC3B3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706624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7F3E8"/>
                </a:solidFill>
                <a:latin typeface="Aptos"/>
              </a:defRPr>
            </a:pPr>
            <a:r>
              <a:t>Старт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8" y="3236976"/>
            <a:ext cx="210312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Каждый сообщает,</a:t>
            </a:r>
            <a:br/>
            <a:r>
              <a:t>какой колодой играет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45936" y="2057400"/>
            <a:ext cx="2560320" cy="2103120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28816" y="2267712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D6A928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8816" y="2706624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7F3E8"/>
                </a:solidFill>
                <a:latin typeface="Aptos"/>
              </a:defRPr>
            </a:pPr>
            <a:r>
              <a:t>Раунды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3236976"/>
            <a:ext cx="210312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Система формирует пары,</a:t>
            </a:r>
            <a:br/>
            <a:r>
              <a:t>игроки находят соперников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98863" y="2057400"/>
            <a:ext cx="2560320" cy="2103120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81743" y="2267712"/>
            <a:ext cx="4114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55C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81743" y="2706624"/>
            <a:ext cx="214884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000" b="1">
                <a:solidFill>
                  <a:srgbClr val="F7F3E8"/>
                </a:solidFill>
                <a:latin typeface="Aptos"/>
              </a:defRPr>
            </a:pPr>
            <a:r>
              <a:t>Финиш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81743" y="3236976"/>
            <a:ext cx="210312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AAB3C2"/>
                </a:solidFill>
                <a:latin typeface="Aptos"/>
              </a:defRPr>
            </a:pPr>
            <a:r>
              <a:t>Появляются места,</a:t>
            </a:r>
            <a:br/>
            <a:r>
              <a:t>очки и статистика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64608"/>
            <a:ext cx="10332720" cy="6400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7F3E8"/>
                </a:solidFill>
                <a:latin typeface="Aptos"/>
              </a:defRPr>
            </a:pPr>
            <a:r>
              <a:t>Колода здесь — аналог выбранной стратегии/конфигурации. Метагейм — распределение этих стратегий в сообществе.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5715000"/>
            <a:ext cx="9966960" cy="32004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D6A928"/>
                </a:solidFill>
                <a:latin typeface="Aptos"/>
              </a:defRPr>
            </a:pPr>
            <a:r>
              <a:t>Даже маленькое событие создаёт много связанного состояния и ошибок синхронизации.</a:t>
            </a:r>
          </a:p>
        </p:txBody>
      </p:sp>
      <p:pic>
        <p:nvPicPr>
          <p:cNvPr id="22" name="Picture 21" descr="card-tolarian-terr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325112"/>
            <a:ext cx="997449" cy="1389888"/>
          </a:xfrm>
          <a:prstGeom prst="rect">
            <a:avLst/>
          </a:prstGeom>
        </p:spPr>
      </p:pic>
      <p:pic>
        <p:nvPicPr>
          <p:cNvPr id="23" name="Picture 22" descr="card-experimental-synthesiz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2176" y="4325112"/>
            <a:ext cx="997449" cy="13898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До автоматизации данные рассыпаны по людям и сервисам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965960"/>
            <a:ext cx="2514600" cy="1234440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212848"/>
            <a:ext cx="217627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7F3E8"/>
                </a:solidFill>
                <a:latin typeface="Aptos"/>
              </a:defRPr>
            </a:pPr>
            <a:r>
              <a:t>Telegram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670048"/>
            <a:ext cx="217627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кто придёт? кто записался?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27832" y="2377440"/>
            <a:ext cx="274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E4553D"/>
                </a:solidFill>
                <a:latin typeface="Aptos"/>
              </a:defRPr>
            </a:pPr>
            <a:r>
              <a:t>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965960"/>
            <a:ext cx="2514600" cy="1234440"/>
          </a:xfrm>
          <a:prstGeom prst="roundRect">
            <a:avLst/>
          </a:prstGeom>
          <a:solidFill>
            <a:srgbClr val="171D28"/>
          </a:solidFill>
          <a:ln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212848"/>
            <a:ext cx="217627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7F3E8"/>
                </a:solidFill>
                <a:latin typeface="Aptos"/>
              </a:defRPr>
            </a:pPr>
            <a:r>
              <a:t>Организатор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670048"/>
            <a:ext cx="217627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у кого какая колода?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62472" y="2377440"/>
            <a:ext cx="274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E4553D"/>
                </a:solidFill>
                <a:latin typeface="Aptos"/>
              </a:defRPr>
            </a:pPr>
            <a:r>
              <a:t>↛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1965960"/>
            <a:ext cx="2514600" cy="1234440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212848"/>
            <a:ext cx="217627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7F3E8"/>
                </a:solidFill>
                <a:latin typeface="Aptos"/>
              </a:defRPr>
            </a:pPr>
            <a:r>
              <a:t>AetherHub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670048"/>
            <a:ext cx="217627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пары и финальные места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97112" y="2377440"/>
            <a:ext cx="274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E4553D"/>
                </a:solidFill>
                <a:latin typeface="Aptos"/>
              </a:defRPr>
            </a:pPr>
            <a:r>
              <a:t>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965960"/>
            <a:ext cx="2514600" cy="1234440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2212848"/>
            <a:ext cx="217627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F7F3E8"/>
                </a:solidFill>
                <a:latin typeface="Aptos"/>
              </a:defRPr>
            </a:pPr>
            <a:r>
              <a:t>Таблицы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2670048"/>
            <a:ext cx="2176272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экспорт и история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17320" y="3977639"/>
            <a:ext cx="9326880" cy="1417320"/>
          </a:xfrm>
          <a:prstGeom prst="roundRect">
            <a:avLst/>
          </a:prstGeom>
          <a:solidFill>
            <a:srgbClr val="202837"/>
          </a:solidFill>
          <a:ln>
            <a:solidFill>
              <a:srgbClr val="20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691640" y="4224528"/>
            <a:ext cx="237744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1">
                <a:solidFill>
                  <a:srgbClr val="D6A928"/>
                </a:solidFill>
                <a:latin typeface="Aptos"/>
              </a:defRPr>
            </a:pPr>
            <a:r>
              <a:t>Цена ручного процесса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4681728"/>
            <a:ext cx="873252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800" b="1">
                <a:solidFill>
                  <a:srgbClr val="F7F3E8"/>
                </a:solidFill>
                <a:latin typeface="Aptos"/>
              </a:defRPr>
            </a:pPr>
            <a:r>
              <a:t>пропущенные записи · дубли имён · забытые пары · несведённые результаты · нулевая история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ИГРОК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Запись занимает несколько нажатий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5303520" cy="4160520"/>
          </a:xfrm>
          <a:prstGeom prst="roundRect">
            <a:avLst/>
          </a:prstGeom>
          <a:solidFill>
            <a:srgbClr val="E9ECF1"/>
          </a:solidFill>
          <a:ln>
            <a:solidFill>
              <a:srgbClr val="32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-regist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95" y="1837943"/>
            <a:ext cx="5063490" cy="405079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236208" y="1783080"/>
            <a:ext cx="5303520" cy="4160520"/>
          </a:xfrm>
          <a:prstGeom prst="roundRect">
            <a:avLst/>
          </a:prstGeom>
          <a:solidFill>
            <a:srgbClr val="E9ECF1"/>
          </a:solidFill>
          <a:ln>
            <a:solidFill>
              <a:srgbClr val="32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al-choose-deck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6223" y="1837943"/>
            <a:ext cx="5063490" cy="4050791"/>
          </a:xfrm>
          <a:prstGeom prst="rect">
            <a:avLst/>
          </a:prstGeom>
        </p:spPr>
      </p:pic>
      <p:pic>
        <p:nvPicPr>
          <p:cNvPr id="8" name="Picture 7" descr="card-tolarian-terro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9296" y="4425696"/>
            <a:ext cx="931827" cy="12984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6062472"/>
            <a:ext cx="470916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4FC3B3"/>
                </a:solidFill>
                <a:latin typeface="Aptos"/>
              </a:defRPr>
            </a:pPr>
            <a:r>
              <a:t>1 · выбрать активный турнир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6062472"/>
            <a:ext cx="4846320" cy="237744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200" b="1">
                <a:solidFill>
                  <a:srgbClr val="D6A928"/>
                </a:solidFill>
                <a:latin typeface="Aptos"/>
              </a:defRPr>
            </a:pPr>
            <a:r>
              <a:t>2 · выбрать знакомую колоду или свой вариант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Реальные кадры Telegram Desktop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ОРГАНИЗАТОР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Бот показывает незаполненные места и даёт закрыть их на ходу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5852160" cy="4526280"/>
          </a:xfrm>
          <a:prstGeom prst="roundRect">
            <a:avLst/>
          </a:prstGeom>
          <a:solidFill>
            <a:srgbClr val="E9ECF1"/>
          </a:solidFill>
          <a:ln>
            <a:solidFill>
              <a:srgbClr val="32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-admin-fi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535" y="1792224"/>
            <a:ext cx="5520690" cy="44165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03720" y="1874519"/>
            <a:ext cx="4526280" cy="1005840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2039112"/>
            <a:ext cx="40690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D6A928"/>
                </a:solidFill>
                <a:latin typeface="Aptos"/>
              </a:defRPr>
            </a:pPr>
            <a:r>
              <a:t>Один экран состояния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2395727"/>
            <a:ext cx="4041648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кто зарегистрирован и у кого нет колоды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03720" y="3172968"/>
            <a:ext cx="4526280" cy="1005840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0" y="3337560"/>
            <a:ext cx="40690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D6A928"/>
                </a:solidFill>
                <a:latin typeface="Aptos"/>
              </a:defRPr>
            </a:pPr>
            <a:r>
              <a:t>Коллаборативный сбор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0" y="3694176"/>
            <a:ext cx="4041648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колоду может записать игрок, админ или оппонент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471416"/>
            <a:ext cx="4526280" cy="1005840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4636007"/>
            <a:ext cx="40690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D6A928"/>
                </a:solidFill>
                <a:latin typeface="Aptos"/>
              </a:defRPr>
            </a:pPr>
            <a:r>
              <a:t>Безопасные действия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992624"/>
            <a:ext cx="4041648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0">
                <a:solidFill>
                  <a:srgbClr val="AAB3C2"/>
                </a:solidFill>
                <a:latin typeface="Aptos"/>
              </a:defRPr>
            </a:pPr>
            <a:r>
              <a:t>подтверждения для удаления, раскрытия и закрытия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Реальный debug-сценарий; уведомления не отправляются другим пользователям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rchitectur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МОДЕЛЬ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Турнир — явный конечный автомат, а не набор команд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148840"/>
            <a:ext cx="2514600" cy="1389888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2468880"/>
            <a:ext cx="22860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5591E6"/>
                </a:solidFill>
                <a:latin typeface="Aptos"/>
              </a:defRPr>
            </a:pPr>
            <a:r>
              <a:t>REGISTRATION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2944368"/>
            <a:ext cx="2286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7F3E8"/>
                </a:solidFill>
                <a:latin typeface="Aptos"/>
              </a:defRPr>
            </a:pPr>
            <a:r>
              <a:t>запись и колоды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263347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73809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2148840"/>
            <a:ext cx="2514600" cy="1389888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2468880"/>
            <a:ext cx="22860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4FC3B3"/>
                </a:solidFill>
                <a:latin typeface="Aptos"/>
              </a:defRPr>
            </a:pPr>
            <a:r>
              <a:t>ONGOING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944368"/>
            <a:ext cx="2286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7F3E8"/>
                </a:solidFill>
                <a:latin typeface="Aptos"/>
              </a:defRPr>
            </a:pPr>
            <a:r>
              <a:t>раунды и пары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9048" y="263347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73809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91656" y="2148840"/>
            <a:ext cx="2514600" cy="1389888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1384" y="2468880"/>
            <a:ext cx="22860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D6A928"/>
                </a:solidFill>
                <a:latin typeface="Aptos"/>
              </a:defRPr>
            </a:pPr>
            <a:r>
              <a:t>VOTING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1384" y="2944368"/>
            <a:ext cx="2286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7F3E8"/>
                </a:solidFill>
                <a:latin typeface="Aptos"/>
              </a:defRPr>
            </a:pPr>
            <a:r>
              <a:t>проверка данных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1976" y="2633472"/>
            <a:ext cx="256032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73809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44584" y="2148840"/>
            <a:ext cx="2514600" cy="1389888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1" y="2468880"/>
            <a:ext cx="228600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1">
                <a:solidFill>
                  <a:srgbClr val="55C787"/>
                </a:solidFill>
                <a:latin typeface="Aptos"/>
              </a:defRPr>
            </a:pPr>
            <a:r>
              <a:t>CLOSED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1" y="2944368"/>
            <a:ext cx="228600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0">
                <a:solidFill>
                  <a:srgbClr val="F7F3E8"/>
                </a:solidFill>
                <a:latin typeface="Aptos"/>
              </a:defRPr>
            </a:pPr>
            <a:r>
              <a:t>итоги и экспорт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160520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D6A928"/>
                </a:solidFill>
                <a:latin typeface="Aptos"/>
              </a:defRPr>
            </a:pPr>
            <a:r>
              <a:t>Инвариант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4160520"/>
            <a:ext cx="3840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7F3E8"/>
                </a:solidFill>
                <a:latin typeface="Aptos"/>
              </a:defRPr>
            </a:pPr>
            <a:r>
              <a:t>один активный турнир на чат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81928" y="4160520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D6A928"/>
                </a:solidFill>
                <a:latin typeface="Aptos"/>
              </a:defRPr>
            </a:pPr>
            <a:r>
              <a:t>Гейты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7808" y="4160520"/>
            <a:ext cx="3840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7F3E8"/>
                </a:solidFill>
                <a:latin typeface="Aptos"/>
              </a:defRPr>
            </a:pPr>
            <a:r>
              <a:t>действия разрешены только в нужной стадии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001768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D6A928"/>
                </a:solidFill>
                <a:latin typeface="Aptos"/>
              </a:defRPr>
            </a:pPr>
            <a:r>
              <a:t>Идемпотентность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75688" y="5001768"/>
            <a:ext cx="3840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7F3E8"/>
                </a:solidFill>
                <a:latin typeface="Aptos"/>
              </a:defRPr>
            </a:pPr>
            <a:r>
              <a:t>повторный импорт не создаёт дубли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81928" y="5001768"/>
            <a:ext cx="118872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100" b="1">
                <a:solidFill>
                  <a:srgbClr val="D6A928"/>
                </a:solidFill>
                <a:latin typeface="Aptos"/>
              </a:defRPr>
            </a:pPr>
            <a:r>
              <a:t>Best effort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07808" y="5001768"/>
            <a:ext cx="38404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300" b="0">
                <a:solidFill>
                  <a:srgbClr val="F7F3E8"/>
                </a:solidFill>
                <a:latin typeface="Aptos"/>
              </a:defRPr>
            </a:pPr>
            <a:r>
              <a:t>внешняя ошибка не ломает закрытие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TournamentService + typed domain errors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Чистое ядро отделено от Telegram и интеграций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83080"/>
            <a:ext cx="4572000" cy="786384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956816"/>
            <a:ext cx="24231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7F3E8"/>
                </a:solidFill>
                <a:latin typeface="Aptos"/>
              </a:defRPr>
            </a:pPr>
            <a:r>
              <a:t>Telegram wrappers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1975104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100" b="0">
                <a:solidFill>
                  <a:srgbClr val="AAB3C2"/>
                </a:solidFill>
                <a:latin typeface="Aptos"/>
              </a:defRPr>
            </a:pPr>
            <a:r>
              <a:t>Update → primitives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2587752"/>
            <a:ext cx="320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75809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825496"/>
            <a:ext cx="4572000" cy="786384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99232"/>
            <a:ext cx="24231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7F3E8"/>
                </a:solidFill>
                <a:latin typeface="Aptos"/>
              </a:defRPr>
            </a:pPr>
            <a:r>
              <a:t>Pure handlers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3017520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100" b="0">
                <a:solidFill>
                  <a:srgbClr val="AAB3C2"/>
                </a:solidFill>
                <a:latin typeface="Aptos"/>
              </a:defRPr>
            </a:pPr>
            <a:r>
              <a:t>HandlerResult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630168"/>
            <a:ext cx="320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75809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67911"/>
            <a:ext cx="4572000" cy="786384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041648"/>
            <a:ext cx="24231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7F3E8"/>
                </a:solidFill>
                <a:latin typeface="Aptos"/>
              </a:defRPr>
            </a:pPr>
            <a:r>
              <a:t>Services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4059935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100" b="0">
                <a:solidFill>
                  <a:srgbClr val="AAB3C2"/>
                </a:solidFill>
                <a:latin typeface="Aptos"/>
              </a:defRPr>
            </a:pPr>
            <a:r>
              <a:t>rules + orchestration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4672583"/>
            <a:ext cx="3200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758092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10328"/>
            <a:ext cx="4572000" cy="786384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084064"/>
            <a:ext cx="242316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1">
                <a:solidFill>
                  <a:srgbClr val="F7F3E8"/>
                </a:solidFill>
                <a:latin typeface="Aptos"/>
              </a:defRPr>
            </a:pPr>
            <a:r>
              <a:t>SQLAlchemy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46120" y="5102352"/>
            <a:ext cx="178308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1100" b="0">
                <a:solidFill>
                  <a:srgbClr val="AAB3C2"/>
                </a:solidFill>
                <a:latin typeface="Aptos"/>
              </a:defRPr>
            </a:pPr>
            <a:r>
              <a:t>models + migrations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1783080"/>
            <a:ext cx="5440680" cy="3858768"/>
          </a:xfrm>
          <a:prstGeom prst="roundRect">
            <a:avLst/>
          </a:prstGeom>
          <a:solidFill>
            <a:srgbClr val="202837"/>
          </a:solidFill>
          <a:ln>
            <a:solidFill>
              <a:srgbClr val="2028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44768" y="2039112"/>
            <a:ext cx="1828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600" b="1">
                <a:solidFill>
                  <a:srgbClr val="D6A928"/>
                </a:solidFill>
                <a:latin typeface="Aptos"/>
              </a:defRPr>
            </a:pPr>
            <a:r>
              <a:t>Внешний контур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2633472"/>
            <a:ext cx="13258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4FC3B3"/>
                </a:solidFill>
                <a:latin typeface="Aptos"/>
              </a:defRPr>
            </a:pPr>
            <a:r>
              <a:t>AetherHub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2" y="2633472"/>
            <a:ext cx="3154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паринги и стендинги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99632" y="3291839"/>
            <a:ext cx="13258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4FC3B3"/>
                </a:solidFill>
                <a:latin typeface="Aptos"/>
              </a:defRPr>
            </a:pPr>
            <a:r>
              <a:t>DataLens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62672" y="3291839"/>
            <a:ext cx="3154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исторические винрейты и H2H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3950208"/>
            <a:ext cx="13258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4FC3B3"/>
                </a:solidFill>
                <a:latin typeface="Aptos"/>
              </a:defRPr>
            </a:pPr>
            <a:r>
              <a:t>Magic Oculus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62672" y="3950208"/>
            <a:ext cx="3154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архив турниров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4608576"/>
            <a:ext cx="1325880" cy="21945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1">
                <a:solidFill>
                  <a:srgbClr val="4FC3B3"/>
                </a:solidFill>
                <a:latin typeface="Aptos"/>
              </a:defRPr>
            </a:pPr>
            <a:r>
              <a:t>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4608576"/>
            <a:ext cx="3154680" cy="2286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debug/prod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72200" y="5230368"/>
            <a:ext cx="47548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400" b="1">
                <a:solidFill>
                  <a:srgbClr val="F7F3E8"/>
                </a:solidFill>
                <a:latin typeface="Aptos"/>
              </a:defRPr>
            </a:pPr>
            <a:r>
              <a:t>Тестируется бизнес-логика, а не Telegram-моки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САМАЯ ИНЖЕНЕРНАЯ ЧАСТЬ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Превращение грязных внешних данных в устойчивую модель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074920" cy="1444752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139696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5591E6"/>
                </a:solidFill>
                <a:latin typeface="Aptos"/>
              </a:defRPr>
            </a:pPr>
            <a:r>
              <a:t>Два HTML-формата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633472"/>
            <a:ext cx="45262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активный и завершённый AetherHub выглядят по-разному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74519"/>
            <a:ext cx="5074920" cy="1444752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2139696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4FC3B3"/>
                </a:solidFill>
                <a:latin typeface="Aptos"/>
              </a:defRPr>
            </a:pPr>
            <a:r>
              <a:t>Нормализация имён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633472"/>
            <a:ext cx="45262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порядок имени, отчество, points внутри строки, bye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21608"/>
            <a:ext cx="5074920" cy="1444752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986784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D6A928"/>
                </a:solidFill>
                <a:latin typeface="Aptos"/>
              </a:defRPr>
            </a:pPr>
            <a:r>
              <a:t>Канонизация колод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480560"/>
            <a:ext cx="45262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разные написания → общий архетип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721608"/>
            <a:ext cx="5074920" cy="1444752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3986784"/>
            <a:ext cx="452628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55C787"/>
                </a:solidFill>
                <a:latin typeface="Aptos"/>
              </a:defRPr>
            </a:pPr>
            <a:r>
              <a:t>Контроль полноты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480560"/>
            <a:ext cx="452628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roster, места и один head миграций проверяются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687568"/>
            <a:ext cx="1028700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F7F3E8"/>
                </a:solidFill>
                <a:latin typeface="Aptos"/>
              </a:defRPr>
            </a:pPr>
            <a:r>
              <a:t>Результат: система объяснимо деградирует и не превращает мусорный input в ложную статистику.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Закрытие турнира автоматически создаёт готовый медиапакет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664208"/>
            <a:ext cx="3520440" cy="4709160"/>
          </a:xfrm>
          <a:prstGeom prst="roundRect">
            <a:avLst/>
          </a:prstGeom>
          <a:solidFill>
            <a:srgbClr val="0D1016"/>
          </a:solidFill>
          <a:ln>
            <a:solidFill>
              <a:srgbClr val="32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eal-meta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362" y="1719072"/>
            <a:ext cx="2363875" cy="45994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334256" y="1664208"/>
            <a:ext cx="3520440" cy="4709160"/>
          </a:xfrm>
          <a:prstGeom prst="roundRect">
            <a:avLst/>
          </a:prstGeom>
          <a:solidFill>
            <a:srgbClr val="0D1016"/>
          </a:solidFill>
          <a:ln>
            <a:solidFill>
              <a:srgbClr val="32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eal-stand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216" y="1719072"/>
            <a:ext cx="2684519" cy="45994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28431" y="1664208"/>
            <a:ext cx="3520440" cy="4709160"/>
          </a:xfrm>
          <a:prstGeom prst="roundRect">
            <a:avLst/>
          </a:prstGeom>
          <a:solidFill>
            <a:srgbClr val="F3F4F6"/>
          </a:solidFill>
          <a:ln>
            <a:solidFill>
              <a:srgbClr val="323A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l-telegram-re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8073" y="1719072"/>
            <a:ext cx="3381156" cy="4599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05840" y="6071616"/>
            <a:ext cx="2788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4FC3B3"/>
                </a:solidFill>
                <a:latin typeface="Aptos"/>
              </a:defRPr>
            </a:pPr>
            <a:r>
              <a:t>метагейм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6071616"/>
            <a:ext cx="2788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D6A928"/>
                </a:solidFill>
                <a:latin typeface="Aptos"/>
              </a:defRPr>
            </a:pPr>
            <a:r>
              <a:t>финальные места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6071616"/>
            <a:ext cx="278892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100" b="1">
                <a:solidFill>
                  <a:srgbClr val="55C787"/>
                </a:solidFill>
                <a:latin typeface="Aptos"/>
              </a:defRPr>
            </a:pPr>
            <a:r>
              <a:t>пост в чат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Реальные материалы турнира на 42 участника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ПРОДУКТОВЫЙ ЭФФЕКТ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Данные создают петлю полезности, а не архив ради архива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2057400"/>
            <a:ext cx="2487168" cy="1965960"/>
          </a:xfrm>
          <a:prstGeom prst="roundRect">
            <a:avLst/>
          </a:prstGeom>
          <a:solidFill>
            <a:srgbClr val="171D28"/>
          </a:solidFill>
          <a:ln>
            <a:solidFill>
              <a:srgbClr val="559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2395728"/>
            <a:ext cx="2148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5591E6"/>
                </a:solidFill>
                <a:latin typeface="Aptos"/>
              </a:defRPr>
            </a:pPr>
            <a:r>
              <a:t>Простая запись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999232"/>
            <a:ext cx="214884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F7F3E8"/>
                </a:solidFill>
                <a:latin typeface="Aptos"/>
              </a:defRPr>
            </a:pPr>
            <a:r>
              <a:t>больше игроков</a:t>
            </a:r>
            <a:br/>
            <a:r>
              <a:t>указывают колоду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2761488"/>
            <a:ext cx="292608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D6A92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2057400"/>
            <a:ext cx="2487168" cy="1965960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2395728"/>
            <a:ext cx="2148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4FC3B3"/>
                </a:solidFill>
                <a:latin typeface="Aptos"/>
              </a:defRPr>
            </a:pPr>
            <a:r>
              <a:t>Полнее данные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999232"/>
            <a:ext cx="214884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F7F3E8"/>
                </a:solidFill>
                <a:latin typeface="Aptos"/>
              </a:defRPr>
            </a:pPr>
            <a:r>
              <a:t>точнее локальная</a:t>
            </a:r>
            <a:br/>
            <a:r>
              <a:t>картина меты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2761488"/>
            <a:ext cx="292608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D6A92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2057400"/>
            <a:ext cx="2487168" cy="1965960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2395728"/>
            <a:ext cx="2148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D6A928"/>
                </a:solidFill>
                <a:latin typeface="Aptos"/>
              </a:defRPr>
            </a:pPr>
            <a:r>
              <a:t>Полезный ответ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999232"/>
            <a:ext cx="214884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F7F3E8"/>
                </a:solidFill>
                <a:latin typeface="Aptos"/>
              </a:defRPr>
            </a:pPr>
            <a:r>
              <a:t>графики, H2H,</a:t>
            </a:r>
            <a:br/>
            <a:r>
              <a:t>история игрока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761488"/>
            <a:ext cx="292608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800" b="1">
                <a:solidFill>
                  <a:srgbClr val="D6A928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2057400"/>
            <a:ext cx="2487168" cy="1965960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54312" y="2395728"/>
            <a:ext cx="2148840" cy="310896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700" b="1">
                <a:solidFill>
                  <a:srgbClr val="55C787"/>
                </a:solidFill>
                <a:latin typeface="Aptos"/>
              </a:defRPr>
            </a:pPr>
            <a:r>
              <a:t>Больше доверия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4312" y="2999232"/>
            <a:ext cx="2148840" cy="5943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300" b="0">
                <a:solidFill>
                  <a:srgbClr val="F7F3E8"/>
                </a:solidFill>
                <a:latin typeface="Aptos"/>
              </a:defRPr>
            </a:pPr>
            <a:r>
              <a:t>люди снова</a:t>
            </a:r>
            <a:br/>
            <a:r>
              <a:t>пользуются ботом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315968"/>
            <a:ext cx="100584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0">
                <a:solidFill>
                  <a:srgbClr val="586273"/>
                </a:solidFill>
                <a:latin typeface="Aptos"/>
              </a:defRPr>
            </a:pPr>
            <a:r>
              <a:t>↖──────────────────────────────────────────────────────────────↙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011680" y="4919472"/>
            <a:ext cx="242316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76272" y="5056632"/>
            <a:ext cx="210312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4FC3B3"/>
                </a:solidFill>
                <a:latin typeface="Aptos"/>
              </a:defRPr>
            </a:pPr>
            <a:r>
              <a:t>513 / 514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76272" y="5532120"/>
            <a:ext cx="2103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реальных колод классифицированы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892040" y="4919472"/>
            <a:ext cx="242316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56631" y="5056632"/>
            <a:ext cx="210312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D6A928"/>
                </a:solidFill>
                <a:latin typeface="Aptos"/>
              </a:defRPr>
            </a:pPr>
            <a:r>
              <a:t>145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56631" y="5532120"/>
            <a:ext cx="2103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архетипов в справочнике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0" y="4919472"/>
            <a:ext cx="2423160" cy="1069848"/>
          </a:xfrm>
          <a:prstGeom prst="roundRect">
            <a:avLst/>
          </a:prstGeom>
          <a:solidFill>
            <a:srgbClr val="171D28"/>
          </a:solidFill>
          <a:ln>
            <a:solidFill>
              <a:srgbClr val="171D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36992" y="5056632"/>
            <a:ext cx="2103120" cy="4114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500" b="1">
                <a:solidFill>
                  <a:srgbClr val="5591E6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5532120"/>
            <a:ext cx="21031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000" b="0">
                <a:solidFill>
                  <a:srgbClr val="AAB3C2"/>
                </a:solidFill>
                <a:latin typeface="Aptos"/>
              </a:defRPr>
            </a:pPr>
            <a:r>
              <a:t>участника в показанном отчёте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Метрики классификации: docs/meta_chart.md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ИНЖЕНЕРНАЯ ЗРЕЛОСТЬ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Безопасность здесь — часть предметной области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828800"/>
            <a:ext cx="5029200" cy="1508760"/>
          </a:xfrm>
          <a:prstGeom prst="roundRect">
            <a:avLst/>
          </a:prstGeom>
          <a:solidFill>
            <a:srgbClr val="171D28"/>
          </a:solidFill>
          <a:ln>
            <a:solidFill>
              <a:srgbClr val="E455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1832" y="2103120"/>
            <a:ext cx="45720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E4553D"/>
                </a:solidFill>
                <a:latin typeface="Aptos"/>
              </a:defRPr>
            </a:pPr>
            <a:r>
              <a:t>Никаких массовых debug-DM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" y="2633472"/>
            <a:ext cx="4526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тестовый сценарий пишет только инициатору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9632" y="1828800"/>
            <a:ext cx="5029200" cy="1508760"/>
          </a:xfrm>
          <a:prstGeom prst="roundRect">
            <a:avLst/>
          </a:prstGeom>
          <a:solidFill>
            <a:srgbClr val="171D28"/>
          </a:solidFill>
          <a:ln>
            <a:solidFill>
              <a:srgbClr val="4FC3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2103120"/>
            <a:ext cx="45720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4FC3B3"/>
                </a:solidFill>
                <a:latin typeface="Aptos"/>
              </a:defRPr>
            </a:pPr>
            <a:r>
              <a:t>Opt-in уведомлений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8232" y="2633472"/>
            <a:ext cx="4526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игрок явно включает полезные пуши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3749039"/>
            <a:ext cx="5029200" cy="1508760"/>
          </a:xfrm>
          <a:prstGeom prst="roundRect">
            <a:avLst/>
          </a:prstGeom>
          <a:solidFill>
            <a:srgbClr val="171D28"/>
          </a:solidFill>
          <a:ln>
            <a:solidFill>
              <a:srgbClr val="D6A9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4023359"/>
            <a:ext cx="45720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D6A928"/>
                </a:solidFill>
                <a:latin typeface="Aptos"/>
              </a:defRPr>
            </a:pPr>
            <a:r>
              <a:t>Allowlist в production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1832" y="4553712"/>
            <a:ext cx="4526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получатель проверяется перед отправкой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3749039"/>
            <a:ext cx="5029200" cy="1508760"/>
          </a:xfrm>
          <a:prstGeom prst="roundRect">
            <a:avLst/>
          </a:prstGeom>
          <a:solidFill>
            <a:srgbClr val="171D28"/>
          </a:solidFill>
          <a:ln>
            <a:solidFill>
              <a:srgbClr val="55C7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4023359"/>
            <a:ext cx="4572000" cy="29260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700" b="1">
                <a:solidFill>
                  <a:srgbClr val="55C787"/>
                </a:solidFill>
                <a:latin typeface="Aptos"/>
              </a:defRPr>
            </a:pPr>
            <a:r>
              <a:t>Deploy через CI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4553712"/>
            <a:ext cx="4526280" cy="34747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200" b="0">
                <a:solidFill>
                  <a:srgbClr val="F7F3E8"/>
                </a:solidFill>
                <a:latin typeface="Aptos"/>
              </a:defRPr>
            </a:pPr>
            <a:r>
              <a:t>debug и prod разведены, секреты не в git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797296"/>
            <a:ext cx="10424160" cy="36576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ctr">
              <a:defRPr sz="1500" b="1">
                <a:solidFill>
                  <a:srgbClr val="F7F3E8"/>
                </a:solidFill>
                <a:latin typeface="Aptos"/>
              </a:defRPr>
            </a:pPr>
            <a:r>
              <a:t>Ошибка fan-out спамит реальных людей и необратима — поэтому safety-инварианты закреплены в проектных правилах.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900" b="1">
                <a:solidFill>
                  <a:srgbClr val="D6A928"/>
                </a:solidFill>
                <a:latin typeface="Aptos"/>
              </a:defRPr>
            </a:pPr>
            <a:r>
              <a:t>ВЫВОД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67512"/>
            <a:ext cx="10972800" cy="6583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2900" b="1">
                <a:solidFill>
                  <a:srgbClr val="F7F3E8"/>
                </a:solidFill>
                <a:latin typeface="Aptos"/>
              </a:defRPr>
            </a:pPr>
            <a:r>
              <a:t>Хороший community-tech невидим, пока не начинает помогать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874519"/>
            <a:ext cx="6675120" cy="114300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3000" b="1">
                <a:solidFill>
                  <a:srgbClr val="F7F3E8"/>
                </a:solidFill>
                <a:latin typeface="Aptos"/>
              </a:defRPr>
            </a:pPr>
            <a:r>
              <a:t>MetaGatherer превращает разговор в чате</a:t>
            </a:r>
            <a:br/>
            <a:r>
              <a:t>в надёжное событие и полезные данные.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3401568"/>
            <a:ext cx="13258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4FC3B3"/>
                </a:solidFill>
                <a:latin typeface="Aptos"/>
              </a:defRPr>
            </a:pPr>
            <a:r>
              <a:t>Игрок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0280" y="3401568"/>
            <a:ext cx="4846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7F3E8"/>
                </a:solidFill>
                <a:latin typeface="Aptos"/>
              </a:defRPr>
            </a:pPr>
            <a:r>
              <a:t>быстрее включается в турнир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4178808"/>
            <a:ext cx="13258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D6A928"/>
                </a:solidFill>
                <a:latin typeface="Aptos"/>
              </a:defRPr>
            </a:pPr>
            <a:r>
              <a:t>Организатор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4178808"/>
            <a:ext cx="4846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7F3E8"/>
                </a:solidFill>
                <a:latin typeface="Aptos"/>
              </a:defRPr>
            </a:pPr>
            <a:r>
              <a:t>тратит меньше внимания на рутину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956048"/>
            <a:ext cx="1325880" cy="256032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400" b="1">
                <a:solidFill>
                  <a:srgbClr val="5591E6"/>
                </a:solidFill>
                <a:latin typeface="Aptos"/>
              </a:defRPr>
            </a:pPr>
            <a:r>
              <a:t>Комьюнити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4956048"/>
            <a:ext cx="4846320" cy="27432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1500" b="0">
                <a:solidFill>
                  <a:srgbClr val="F7F3E8"/>
                </a:solidFill>
                <a:latin typeface="Aptos"/>
              </a:defRPr>
            </a:pPr>
            <a:r>
              <a:t>получает общую память и аналитику</a:t>
            </a:r>
          </a:p>
        </p:txBody>
      </p:sp>
      <p:pic>
        <p:nvPicPr>
          <p:cNvPr id="11" name="Picture 10" descr="real-final-po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0" y="1234440"/>
            <a:ext cx="3566160" cy="285292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" y="6528816"/>
            <a:ext cx="9601200" cy="182880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l">
              <a:defRPr sz="800" b="0">
                <a:solidFill>
                  <a:srgbClr val="6F7888"/>
                </a:solidFill>
                <a:latin typeface="Aptos"/>
              </a:defRPr>
            </a:pPr>
            <a:r>
              <a:t>MetaGatherer ·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8520" y="6492240"/>
            <a:ext cx="548640" cy="201168"/>
          </a:xfrm>
          <a:prstGeom prst="rect">
            <a:avLst/>
          </a:prstGeom>
          <a:noFill/>
        </p:spPr>
        <p:txBody>
          <a:bodyPr wrap="none" lIns="27432" rIns="27432" tIns="27432" bIns="27432" anchor="t">
            <a:spAutoFit/>
          </a:bodyPr>
          <a:lstStyle/>
          <a:p>
            <a:pPr algn="r">
              <a:defRPr sz="800" b="1">
                <a:solidFill>
                  <a:srgbClr val="D6A928"/>
                </a:solidFill>
                <a:latin typeface="Aptos"/>
              </a:defRPr>
            </a:pPr>
            <a:r>
              <a:t>013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MetaGatherer — подробная презентация</dc:title>
  <dc:subject/>
  <dc:creator>MetaGatherer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