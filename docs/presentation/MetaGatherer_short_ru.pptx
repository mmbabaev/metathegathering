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ot-avat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10896"/>
            <a:ext cx="566928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53312" y="475488"/>
            <a:ext cx="36576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D6A928"/>
                </a:solidFill>
                <a:latin typeface="Aptos"/>
              </a:defRPr>
            </a:pPr>
            <a:r>
              <a:t>METAGATHERER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6583680" cy="1417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3500" b="1">
                <a:solidFill>
                  <a:srgbClr val="F7F3E8"/>
                </a:solidFill>
                <a:latin typeface="Aptos"/>
              </a:defRPr>
            </a:pPr>
            <a:r>
              <a:t>Турнир живёт</a:t>
            </a:r>
            <a:br/>
            <a:r>
              <a:t>прямо в Telegram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2670048"/>
            <a:ext cx="5852160" cy="8229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600" b="0">
                <a:solidFill>
                  <a:srgbClr val="AAB3C2"/>
                </a:solidFill>
                <a:latin typeface="Aptos"/>
              </a:defRPr>
            </a:pPr>
            <a:r>
              <a:t>Регистрация, колоды, пары, результаты и мета —</a:t>
            </a:r>
            <a:br/>
            <a:r>
              <a:t>без таблиц, ручных напоминаний и потери данных.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977639"/>
            <a:ext cx="5349240" cy="1078992"/>
          </a:xfrm>
          <a:prstGeom prst="roundRect">
            <a:avLst/>
          </a:prstGeom>
          <a:solidFill>
            <a:srgbClr val="171D28"/>
          </a:solidFill>
          <a:ln>
            <a:solidFill>
              <a:srgbClr val="171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224528"/>
            <a:ext cx="10972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4FC3B3"/>
                </a:solidFill>
                <a:latin typeface="Aptos"/>
              </a:defRPr>
            </a:pPr>
            <a:r>
              <a:t>Для людей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17136"/>
            <a:ext cx="42976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F7F3E8"/>
                </a:solidFill>
                <a:latin typeface="Aptos"/>
              </a:defRPr>
            </a:pPr>
            <a:r>
              <a:t>меньше рутины · больше игры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230368"/>
            <a:ext cx="5349240" cy="1078992"/>
          </a:xfrm>
          <a:prstGeom prst="roundRect">
            <a:avLst/>
          </a:prstGeom>
          <a:solidFill>
            <a:srgbClr val="171D28"/>
          </a:solidFill>
          <a:ln>
            <a:solidFill>
              <a:srgbClr val="171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477256"/>
            <a:ext cx="150876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D6A928"/>
                </a:solidFill>
                <a:latin typeface="Aptos"/>
              </a:defRPr>
            </a:pPr>
            <a:r>
              <a:t>Для комьюнити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69864"/>
            <a:ext cx="448056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F7F3E8"/>
                </a:solidFill>
                <a:latin typeface="Aptos"/>
              </a:defRPr>
            </a:pPr>
            <a:r>
              <a:t>достоверная история локальной меты</a:t>
            </a:r>
          </a:p>
        </p:txBody>
      </p:sp>
      <p:pic>
        <p:nvPicPr>
          <p:cNvPr id="12" name="Picture 11" descr="real-telegram-rec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112" y="566928"/>
            <a:ext cx="4423063" cy="60167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1792" y="6528816"/>
            <a:ext cx="960120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6F7888"/>
                </a:solidFill>
                <a:latin typeface="Aptos"/>
              </a:defRPr>
            </a:pPr>
            <a:r>
              <a:t>MetaGatherer ·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92240"/>
            <a:ext cx="54864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defRPr sz="800" b="1">
                <a:solidFill>
                  <a:srgbClr val="D6A928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D6A928"/>
                </a:solidFill>
                <a:latin typeface="Aptos"/>
              </a:defRPr>
            </a:pPr>
            <a:r>
              <a:t>ЗАЧЕМ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2900" b="1">
                <a:solidFill>
                  <a:srgbClr val="F7F3E8"/>
                </a:solidFill>
                <a:latin typeface="Aptos"/>
              </a:defRPr>
            </a:pPr>
            <a:r>
              <a:t>Локальный турнир — это маленькая распределённая система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2057400"/>
            <a:ext cx="2587752" cy="2240280"/>
          </a:xfrm>
          <a:prstGeom prst="roundRect">
            <a:avLst/>
          </a:prstGeom>
          <a:solidFill>
            <a:srgbClr val="171D28"/>
          </a:solidFill>
          <a:ln>
            <a:solidFill>
              <a:srgbClr val="171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2240280"/>
            <a:ext cx="50292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5591E6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706624"/>
            <a:ext cx="2194560" cy="32918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900" b="1">
                <a:solidFill>
                  <a:srgbClr val="F7F3E8"/>
                </a:solidFill>
                <a:latin typeface="Aptos"/>
              </a:defRPr>
            </a:pPr>
            <a:r>
              <a:t>Люди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227832"/>
            <a:ext cx="2148840" cy="7132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300" b="0">
                <a:solidFill>
                  <a:srgbClr val="AAB3C2"/>
                </a:solidFill>
                <a:latin typeface="Aptos"/>
              </a:defRPr>
            </a:pPr>
            <a:r>
              <a:t>приходят через чат,</a:t>
            </a:r>
            <a:br/>
            <a:r>
              <a:t>часто в последний момент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057400"/>
            <a:ext cx="2587752" cy="2240280"/>
          </a:xfrm>
          <a:prstGeom prst="roundRect">
            <a:avLst/>
          </a:prstGeom>
          <a:solidFill>
            <a:srgbClr val="171D28"/>
          </a:solidFill>
          <a:ln>
            <a:solidFill>
              <a:srgbClr val="171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240280"/>
            <a:ext cx="50292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4FC3B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706624"/>
            <a:ext cx="2194560" cy="32918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900" b="1">
                <a:solidFill>
                  <a:srgbClr val="F7F3E8"/>
                </a:solidFill>
                <a:latin typeface="Aptos"/>
              </a:defRPr>
            </a:pPr>
            <a:r>
              <a:t>Колоды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227832"/>
            <a:ext cx="2148840" cy="7132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300" b="0">
                <a:solidFill>
                  <a:srgbClr val="AAB3C2"/>
                </a:solidFill>
                <a:latin typeface="Aptos"/>
              </a:defRPr>
            </a:pPr>
            <a:r>
              <a:t>записывают игроки,</a:t>
            </a:r>
            <a:br/>
            <a:r>
              <a:t>админы и оппоненты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27648" y="2057400"/>
            <a:ext cx="2587752" cy="2240280"/>
          </a:xfrm>
          <a:prstGeom prst="roundRect">
            <a:avLst/>
          </a:prstGeom>
          <a:solidFill>
            <a:srgbClr val="171D28"/>
          </a:solidFill>
          <a:ln>
            <a:solidFill>
              <a:srgbClr val="171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2240280"/>
            <a:ext cx="50292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D6A92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706624"/>
            <a:ext cx="2194560" cy="32918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900" b="1">
                <a:solidFill>
                  <a:srgbClr val="F7F3E8"/>
                </a:solidFill>
                <a:latin typeface="Aptos"/>
              </a:defRPr>
            </a:pPr>
            <a:r>
              <a:t>Результаты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3227832"/>
            <a:ext cx="2148840" cy="7132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300" b="0">
                <a:solidFill>
                  <a:srgbClr val="AAB3C2"/>
                </a:solidFill>
                <a:latin typeface="Aptos"/>
              </a:defRPr>
            </a:pPr>
            <a:r>
              <a:t>живут во внешнем</a:t>
            </a:r>
            <a:br/>
            <a:r>
              <a:t>турнирном сервисе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0576" y="2057400"/>
            <a:ext cx="2587752" cy="2240280"/>
          </a:xfrm>
          <a:prstGeom prst="roundRect">
            <a:avLst/>
          </a:prstGeom>
          <a:solidFill>
            <a:srgbClr val="171D28"/>
          </a:solidFill>
          <a:ln>
            <a:solidFill>
              <a:srgbClr val="171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63455" y="2240280"/>
            <a:ext cx="50292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E4553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63455" y="2706624"/>
            <a:ext cx="2194560" cy="32918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900" b="1">
                <a:solidFill>
                  <a:srgbClr val="F7F3E8"/>
                </a:solidFill>
                <a:latin typeface="Aptos"/>
              </a:defRPr>
            </a:pPr>
            <a:r>
              <a:t>История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3455" y="3227832"/>
            <a:ext cx="2148840" cy="7132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300" b="0">
                <a:solidFill>
                  <a:srgbClr val="AAB3C2"/>
                </a:solidFill>
                <a:latin typeface="Aptos"/>
              </a:defRPr>
            </a:pPr>
            <a:r>
              <a:t>теряется между чатами,</a:t>
            </a:r>
            <a:br/>
            <a:r>
              <a:t>таблицами и дашбордом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4882896"/>
            <a:ext cx="10698480" cy="5029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defRPr sz="2100" b="1">
                <a:solidFill>
                  <a:srgbClr val="F7F3E8"/>
                </a:solidFill>
                <a:latin typeface="Aptos"/>
              </a:defRPr>
            </a:pPr>
            <a:r>
              <a:t>MetaGatherer связывает всё одним идентификатором турнира и понятным сценарием в чате.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596128"/>
            <a:ext cx="9601200" cy="31089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defRPr sz="1300" b="0">
                <a:solidFill>
                  <a:srgbClr val="D6A928"/>
                </a:solidFill>
                <a:latin typeface="Aptos"/>
              </a:defRPr>
            </a:pPr>
            <a:r>
              <a:t>Telegram становится интерфейсом · база — памятью · автоматика — оператором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6528816"/>
            <a:ext cx="960120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6F7888"/>
                </a:solidFill>
                <a:latin typeface="Aptos"/>
              </a:defRPr>
            </a:pPr>
            <a:r>
              <a:t>MetaGatherer ·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18520" y="6492240"/>
            <a:ext cx="54864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defRPr sz="800" b="1">
                <a:solidFill>
                  <a:srgbClr val="D6A928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D6A928"/>
                </a:solidFill>
                <a:latin typeface="Aptos"/>
              </a:defRPr>
            </a:pPr>
            <a:r>
              <a:t>КАК ЭТО ВЫГЛЯДИТ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2900" b="1">
                <a:solidFill>
                  <a:srgbClr val="F7F3E8"/>
                </a:solidFill>
                <a:latin typeface="Aptos"/>
              </a:defRPr>
            </a:pPr>
            <a:r>
              <a:t>От выбора колоды до готового отчёта — в одном чате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607040" cy="4754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300" b="0">
                <a:solidFill>
                  <a:srgbClr val="AAB3C2"/>
                </a:solidFill>
                <a:latin typeface="Aptos"/>
              </a:defRPr>
            </a:pPr>
            <a:r>
              <a:t>Реальные кадры из рабочего Telegram-сценария.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920240"/>
            <a:ext cx="3401568" cy="3246120"/>
          </a:xfrm>
          <a:prstGeom prst="roundRect">
            <a:avLst/>
          </a:prstGeom>
          <a:solidFill>
            <a:srgbClr val="E9ECF1"/>
          </a:solidFill>
          <a:ln>
            <a:solidFill>
              <a:srgbClr val="31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eal-choose-de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993392"/>
            <a:ext cx="3255264" cy="260421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03504" y="5376672"/>
            <a:ext cx="3401568" cy="676656"/>
          </a:xfrm>
          <a:prstGeom prst="roundRect">
            <a:avLst/>
          </a:prstGeom>
          <a:solidFill>
            <a:srgbClr val="171D28"/>
          </a:solidFill>
          <a:ln>
            <a:solidFill>
              <a:srgbClr val="171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" y="5568696"/>
            <a:ext cx="310896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D6A928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" y="5504688"/>
            <a:ext cx="1389888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F7F3E8"/>
                </a:solidFill>
                <a:latin typeface="Aptos"/>
              </a:defRPr>
            </a:pPr>
            <a:r>
              <a:t>Игрок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86584" y="5541264"/>
            <a:ext cx="141732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defRPr sz="900" b="0">
                <a:solidFill>
                  <a:srgbClr val="AAB3C2"/>
                </a:solidFill>
                <a:latin typeface="Aptos"/>
              </a:defRPr>
            </a:pPr>
            <a:r>
              <a:t>выбирает колоду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71416" y="1920240"/>
            <a:ext cx="3401568" cy="3246120"/>
          </a:xfrm>
          <a:prstGeom prst="roundRect">
            <a:avLst/>
          </a:prstGeom>
          <a:solidFill>
            <a:srgbClr val="E9ECF1"/>
          </a:solidFill>
          <a:ln>
            <a:solidFill>
              <a:srgbClr val="31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eal-admin-fi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4568" y="1993392"/>
            <a:ext cx="3255264" cy="2604211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471416" y="5376672"/>
            <a:ext cx="3401568" cy="676656"/>
          </a:xfrm>
          <a:prstGeom prst="roundRect">
            <a:avLst/>
          </a:prstGeom>
          <a:solidFill>
            <a:srgbClr val="171D28"/>
          </a:solidFill>
          <a:ln>
            <a:solidFill>
              <a:srgbClr val="171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5568696"/>
            <a:ext cx="310896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D6A928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74336" y="5504688"/>
            <a:ext cx="1389888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F7F3E8"/>
                </a:solidFill>
                <a:latin typeface="Aptos"/>
              </a:defRPr>
            </a:pPr>
            <a:r>
              <a:t>Организатор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4496" y="5541264"/>
            <a:ext cx="141732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defRPr sz="900" b="0">
                <a:solidFill>
                  <a:srgbClr val="AAB3C2"/>
                </a:solidFill>
                <a:latin typeface="Aptos"/>
              </a:defRPr>
            </a:pPr>
            <a:r>
              <a:t>закрывает пробелы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39328" y="1920240"/>
            <a:ext cx="3401568" cy="3246120"/>
          </a:xfrm>
          <a:prstGeom prst="roundRect">
            <a:avLst/>
          </a:prstGeom>
          <a:solidFill>
            <a:srgbClr val="E9ECF1"/>
          </a:solidFill>
          <a:ln>
            <a:solidFill>
              <a:srgbClr val="31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real-final-pos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1993392"/>
            <a:ext cx="3255264" cy="2604211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8339328" y="5376672"/>
            <a:ext cx="3401568" cy="676656"/>
          </a:xfrm>
          <a:prstGeom prst="roundRect">
            <a:avLst/>
          </a:prstGeom>
          <a:solidFill>
            <a:srgbClr val="171D28"/>
          </a:solidFill>
          <a:ln>
            <a:solidFill>
              <a:srgbClr val="171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76488" y="5568696"/>
            <a:ext cx="310896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D6A928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42248" y="5504688"/>
            <a:ext cx="1389888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F7F3E8"/>
                </a:solidFill>
                <a:latin typeface="Aptos"/>
              </a:defRPr>
            </a:pPr>
            <a:r>
              <a:t>Комьюнити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22408" y="5541264"/>
            <a:ext cx="141732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defRPr sz="900" b="0">
                <a:solidFill>
                  <a:srgbClr val="AAB3C2"/>
                </a:solidFill>
                <a:latin typeface="Aptos"/>
              </a:defRPr>
            </a:pPr>
            <a:r>
              <a:t>получает итог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528816"/>
            <a:ext cx="960120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6F7888"/>
                </a:solidFill>
                <a:latin typeface="Aptos"/>
              </a:defRPr>
            </a:pPr>
            <a:r>
              <a:t>Реальные кадры Telegram Desktop · июль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92240"/>
            <a:ext cx="54864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defRPr sz="800" b="1">
                <a:solidFill>
                  <a:srgbClr val="D6A928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D6A928"/>
                </a:solidFill>
                <a:latin typeface="Aptos"/>
              </a:defRPr>
            </a:pPr>
            <a:r>
              <a:t>ТЕХНИЧЕСКИ КРУТО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2900" b="1">
                <a:solidFill>
                  <a:srgbClr val="F7F3E8"/>
                </a:solidFill>
                <a:latin typeface="Aptos"/>
              </a:defRPr>
            </a:pPr>
            <a:r>
              <a:t>Не просто бот: устойчивый data pipeline вокруг события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066543"/>
            <a:ext cx="1847088" cy="1261872"/>
          </a:xfrm>
          <a:prstGeom prst="roundRect">
            <a:avLst/>
          </a:prstGeom>
          <a:solidFill>
            <a:srgbClr val="171D28"/>
          </a:solidFill>
          <a:ln>
            <a:solidFill>
              <a:srgbClr val="559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1572768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defRPr sz="1500" b="1">
                <a:solidFill>
                  <a:srgbClr val="F7F3E8"/>
                </a:solidFill>
                <a:latin typeface="Aptos"/>
              </a:defRPr>
            </a:pPr>
            <a:r>
              <a:t>Telegram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2761488"/>
            <a:ext cx="160020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defRPr sz="900" b="0">
                <a:solidFill>
                  <a:srgbClr val="AAB3C2"/>
                </a:solidFill>
                <a:latin typeface="Aptos"/>
              </a:defRPr>
            </a:pPr>
            <a:r>
              <a:t>тонкие async-обёртки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96312" y="2487168"/>
            <a:ext cx="32004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defRPr sz="1800" b="1">
                <a:solidFill>
                  <a:srgbClr val="6F788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2066543"/>
            <a:ext cx="1847088" cy="1261872"/>
          </a:xfrm>
          <a:prstGeom prst="roundRect">
            <a:avLst/>
          </a:prstGeom>
          <a:solidFill>
            <a:srgbClr val="171D28"/>
          </a:solidFill>
          <a:ln>
            <a:solidFill>
              <a:srgbClr val="4FC3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2331720"/>
            <a:ext cx="1572768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defRPr sz="1500" b="1">
                <a:solidFill>
                  <a:srgbClr val="F7F3E8"/>
                </a:solidFill>
                <a:latin typeface="Aptos"/>
              </a:defRPr>
            </a:pPr>
            <a:r>
              <a:t>Handlers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8376" y="2761488"/>
            <a:ext cx="160020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defRPr sz="900" b="0">
                <a:solidFill>
                  <a:srgbClr val="AAB3C2"/>
                </a:solidFill>
                <a:latin typeface="Aptos"/>
              </a:defRPr>
            </a:pPr>
            <a:r>
              <a:t>чистая бизнес-логика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2312" y="2487168"/>
            <a:ext cx="32004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defRPr sz="1800" b="1">
                <a:solidFill>
                  <a:srgbClr val="6F788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60" y="2066543"/>
            <a:ext cx="1847088" cy="1261872"/>
          </a:xfrm>
          <a:prstGeom prst="roundRect">
            <a:avLst/>
          </a:prstGeom>
          <a:solidFill>
            <a:srgbClr val="171D28"/>
          </a:solidFill>
          <a:ln>
            <a:solidFill>
              <a:srgbClr val="D6A9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2331720"/>
            <a:ext cx="1572768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defRPr sz="1500" b="1">
                <a:solidFill>
                  <a:srgbClr val="F7F3E8"/>
                </a:solidFill>
                <a:latin typeface="Aptos"/>
              </a:defRPr>
            </a:pPr>
            <a:r>
              <a:t>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94376" y="2761488"/>
            <a:ext cx="160020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defRPr sz="900" b="0">
                <a:solidFill>
                  <a:srgbClr val="AAB3C2"/>
                </a:solidFill>
                <a:latin typeface="Aptos"/>
              </a:defRPr>
            </a:pPr>
            <a:r>
              <a:t>state machine · правила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68312" y="2487168"/>
            <a:ext cx="32004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defRPr sz="1800" b="1">
                <a:solidFill>
                  <a:srgbClr val="6F788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2066543"/>
            <a:ext cx="1847088" cy="1261872"/>
          </a:xfrm>
          <a:prstGeom prst="roundRect">
            <a:avLst/>
          </a:prstGeom>
          <a:solidFill>
            <a:srgbClr val="171D28"/>
          </a:solidFill>
          <a:ln>
            <a:solidFill>
              <a:srgbClr val="55C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0" y="2331720"/>
            <a:ext cx="1572768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defRPr sz="1500" b="1">
                <a:solidFill>
                  <a:srgbClr val="F7F3E8"/>
                </a:solidFill>
                <a:latin typeface="Aptos"/>
              </a:defRPr>
            </a:pPr>
            <a:r>
              <a:t>PostgreSQL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0376" y="2761488"/>
            <a:ext cx="160020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defRPr sz="900" b="0">
                <a:solidFill>
                  <a:srgbClr val="AAB3C2"/>
                </a:solidFill>
                <a:latin typeface="Aptos"/>
              </a:defRPr>
            </a:pPr>
            <a:r>
              <a:t>единая история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54312" y="2487168"/>
            <a:ext cx="32004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defRPr sz="1800" b="1">
                <a:solidFill>
                  <a:srgbClr val="6F788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38360" y="2066543"/>
            <a:ext cx="1847088" cy="1261872"/>
          </a:xfrm>
          <a:prstGeom prst="roundRect">
            <a:avLst/>
          </a:prstGeom>
          <a:solidFill>
            <a:srgbClr val="171D28"/>
          </a:solidFill>
          <a:ln>
            <a:solidFill>
              <a:srgbClr val="E4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0" y="2331720"/>
            <a:ext cx="1572768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defRPr sz="1500" b="1">
                <a:solidFill>
                  <a:srgbClr val="F7F3E8"/>
                </a:solidFill>
                <a:latin typeface="Aptos"/>
              </a:defRPr>
            </a:pPr>
            <a:r>
              <a:t>Визуализация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66376" y="2761488"/>
            <a:ext cx="160020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defRPr sz="900" b="0">
                <a:solidFill>
                  <a:srgbClr val="AAB3C2"/>
                </a:solidFill>
                <a:latin typeface="Aptos"/>
              </a:defRPr>
            </a:pPr>
            <a:r>
              <a:t>PNG · Excel · Web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050791"/>
            <a:ext cx="2907792" cy="1572768"/>
          </a:xfrm>
          <a:prstGeom prst="roundRect">
            <a:avLst/>
          </a:prstGeom>
          <a:solidFill>
            <a:srgbClr val="202837"/>
          </a:solidFill>
          <a:ln>
            <a:solidFill>
              <a:srgbClr val="20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288536"/>
            <a:ext cx="2514600" cy="30175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D6A928"/>
                </a:solidFill>
                <a:latin typeface="Aptos"/>
              </a:defRPr>
            </a:pPr>
            <a:r>
              <a:t>Деградация без падения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4736592"/>
            <a:ext cx="2487168" cy="6400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100" b="0">
                <a:solidFill>
                  <a:srgbClr val="AAB3C2"/>
                </a:solidFill>
                <a:latin typeface="Aptos"/>
              </a:defRPr>
            </a:pPr>
            <a:r>
              <a:t>AetherHub/DataLens недоступны — основной сценарий продолжает работать.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05072" y="4050791"/>
            <a:ext cx="2907792" cy="1572768"/>
          </a:xfrm>
          <a:prstGeom prst="roundRect">
            <a:avLst/>
          </a:prstGeom>
          <a:solidFill>
            <a:srgbClr val="202837"/>
          </a:solidFill>
          <a:ln>
            <a:solidFill>
              <a:srgbClr val="20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0" y="4288536"/>
            <a:ext cx="2514600" cy="30175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D6A928"/>
                </a:solidFill>
                <a:latin typeface="Aptos"/>
              </a:defRPr>
            </a:pPr>
            <a:r>
              <a:t>Безопасные уведомления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4736592"/>
            <a:ext cx="2487168" cy="6400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100" b="0">
                <a:solidFill>
                  <a:srgbClr val="AAB3C2"/>
                </a:solidFill>
                <a:latin typeface="Aptos"/>
              </a:defRPr>
            </a:pPr>
            <a:r>
              <a:t>opt-in, allowlist и запрет массовых debug-DM защищают реальных людей.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78624" y="4050791"/>
            <a:ext cx="2907792" cy="1572768"/>
          </a:xfrm>
          <a:prstGeom prst="roundRect">
            <a:avLst/>
          </a:prstGeom>
          <a:solidFill>
            <a:srgbClr val="202837"/>
          </a:solidFill>
          <a:ln>
            <a:solidFill>
              <a:srgbClr val="20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79792" y="4288536"/>
            <a:ext cx="2514600" cy="30175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D6A928"/>
                </a:solidFill>
                <a:latin typeface="Aptos"/>
              </a:defRPr>
            </a:pPr>
            <a:r>
              <a:t>Грязные данные → модель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9792" y="4736592"/>
            <a:ext cx="2487168" cy="6400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100" b="0">
                <a:solidFill>
                  <a:srgbClr val="AAB3C2"/>
                </a:solidFill>
                <a:latin typeface="Aptos"/>
              </a:defRPr>
            </a:pPr>
            <a:r>
              <a:t>имена, колоды и два HTML-формата нормализуются и проверяются.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5989320"/>
            <a:ext cx="832104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defRPr sz="1200" b="1">
                <a:solidFill>
                  <a:srgbClr val="F7F3E8"/>
                </a:solidFill>
                <a:latin typeface="Aptos"/>
              </a:defRPr>
            </a:pPr>
            <a:r>
              <a:t>Интеграции: AetherHub · DataLens · Magic Oculus · GitHub Actions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6528816"/>
            <a:ext cx="960120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6F7888"/>
                </a:solidFill>
                <a:latin typeface="Aptos"/>
              </a:defRPr>
            </a:pPr>
            <a:r>
              <a:t>Архитектура и инварианты — по коду и docs/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18520" y="6492240"/>
            <a:ext cx="54864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defRPr sz="800" b="1">
                <a:solidFill>
                  <a:srgbClr val="D6A928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D6A928"/>
                </a:solidFill>
                <a:latin typeface="Aptos"/>
              </a:defRPr>
            </a:pPr>
            <a:r>
              <a:t>ДАННЫЕ СТАНОВЯТСЯ ПОЛЕЗНЫМИ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2900" b="1">
                <a:solidFill>
                  <a:srgbClr val="F7F3E8"/>
                </a:solidFill>
                <a:latin typeface="Aptos"/>
              </a:defRPr>
            </a:pPr>
            <a:r>
              <a:t>Каждый дейлик оставляет цифровой след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673352"/>
            <a:ext cx="3977639" cy="4526280"/>
          </a:xfrm>
          <a:prstGeom prst="roundRect">
            <a:avLst/>
          </a:prstGeom>
          <a:solidFill>
            <a:srgbClr val="0D1016"/>
          </a:solidFill>
          <a:ln>
            <a:solidFill>
              <a:srgbClr val="0D1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eta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1810512"/>
            <a:ext cx="3310128" cy="4251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5568" y="5989320"/>
            <a:ext cx="292608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defRPr sz="800" b="0">
                <a:solidFill>
                  <a:srgbClr val="788191"/>
                </a:solidFill>
                <a:latin typeface="Aptos"/>
              </a:defRPr>
            </a:pPr>
            <a:r>
              <a:t>Реальный отчёт: 42 колоды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4920" y="1856231"/>
            <a:ext cx="118872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4FC3B3"/>
                </a:solidFill>
                <a:latin typeface="Aptos"/>
              </a:defRPr>
            </a:pPr>
            <a:r>
              <a:t>Сбор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2176272"/>
            <a:ext cx="5852160" cy="4114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2000" b="1">
                <a:solidFill>
                  <a:srgbClr val="F7F3E8"/>
                </a:solidFill>
                <a:latin typeface="Aptos"/>
              </a:defRPr>
            </a:pPr>
            <a:r>
              <a:t>игрок → колода → пары → место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4064" y="2706624"/>
            <a:ext cx="457200" cy="31089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2000" b="1">
                <a:solidFill>
                  <a:srgbClr val="D6A928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3072384"/>
            <a:ext cx="164592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4FC3B3"/>
                </a:solidFill>
                <a:latin typeface="Aptos"/>
              </a:defRPr>
            </a:pPr>
            <a:r>
              <a:t>Нормализация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3392424"/>
            <a:ext cx="5943600" cy="4114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800" b="1">
                <a:solidFill>
                  <a:srgbClr val="F7F3E8"/>
                </a:solidFill>
                <a:latin typeface="Aptos"/>
              </a:defRPr>
            </a:pPr>
            <a:r>
              <a:t>разные написания сводятся к общему архетипу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4064" y="3913632"/>
            <a:ext cx="457200" cy="31089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2000" b="1">
                <a:solidFill>
                  <a:srgbClr val="D6A928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4279392"/>
            <a:ext cx="182880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4FC3B3"/>
                </a:solidFill>
                <a:latin typeface="Aptos"/>
              </a:defRPr>
            </a:pPr>
            <a:r>
              <a:t>Обратная связь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4599432"/>
            <a:ext cx="5943600" cy="4114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800" b="1">
                <a:solidFill>
                  <a:srgbClr val="F7F3E8"/>
                </a:solidFill>
                <a:latin typeface="Aptos"/>
              </a:defRPr>
            </a:pPr>
            <a:r>
              <a:t>мета · стендинги · H2H · история игрока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4920" y="5330952"/>
            <a:ext cx="2148840" cy="1069848"/>
          </a:xfrm>
          <a:prstGeom prst="roundRect">
            <a:avLst/>
          </a:prstGeom>
          <a:solidFill>
            <a:srgbClr val="171D28"/>
          </a:solidFill>
          <a:ln>
            <a:solidFill>
              <a:srgbClr val="171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5468112"/>
            <a:ext cx="1828800" cy="4114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4FC3B3"/>
                </a:solidFill>
                <a:latin typeface="Aptos"/>
              </a:defRPr>
            </a:pPr>
            <a:r>
              <a:t>513 / 514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9512" y="5943600"/>
            <a:ext cx="18288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000" b="0">
                <a:solidFill>
                  <a:srgbClr val="AAB3C2"/>
                </a:solidFill>
                <a:latin typeface="Aptos"/>
              </a:defRPr>
            </a:pPr>
            <a:r>
              <a:t>реальных колод получили цвет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88352" y="5330952"/>
            <a:ext cx="1828800" cy="1069848"/>
          </a:xfrm>
          <a:prstGeom prst="roundRect">
            <a:avLst/>
          </a:prstGeom>
          <a:solidFill>
            <a:srgbClr val="171D28"/>
          </a:solidFill>
          <a:ln>
            <a:solidFill>
              <a:srgbClr val="171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52944" y="5468112"/>
            <a:ext cx="1508760" cy="4114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D6A928"/>
                </a:solidFill>
                <a:latin typeface="Aptos"/>
              </a:defRPr>
            </a:pPr>
            <a:r>
              <a:t>145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52944" y="5943600"/>
            <a:ext cx="150876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000" b="0">
                <a:solidFill>
                  <a:srgbClr val="AAB3C2"/>
                </a:solidFill>
                <a:latin typeface="Aptos"/>
              </a:defRPr>
            </a:pPr>
            <a:r>
              <a:t>архетипов в справочнике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81744" y="5330952"/>
            <a:ext cx="1828800" cy="1069848"/>
          </a:xfrm>
          <a:prstGeom prst="roundRect">
            <a:avLst/>
          </a:prstGeom>
          <a:solidFill>
            <a:srgbClr val="171D28"/>
          </a:solidFill>
          <a:ln>
            <a:solidFill>
              <a:srgbClr val="171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46336" y="5468112"/>
            <a:ext cx="1508760" cy="4114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5591E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46336" y="5943600"/>
            <a:ext cx="150876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000" b="0">
                <a:solidFill>
                  <a:srgbClr val="AAB3C2"/>
                </a:solidFill>
                <a:latin typeface="Aptos"/>
              </a:defRPr>
            </a:pPr>
            <a:r>
              <a:t>источника данных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6528816"/>
            <a:ext cx="960120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6F7888"/>
                </a:solidFill>
                <a:latin typeface="Aptos"/>
              </a:defRPr>
            </a:pPr>
            <a:r>
              <a:t>Реальный график из Telegram · метрики: docs/meta_chart.md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92240"/>
            <a:ext cx="54864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defRPr sz="800" b="1">
                <a:solidFill>
                  <a:srgbClr val="D6A928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D6A928"/>
                </a:solidFill>
                <a:latin typeface="Aptos"/>
              </a:defRPr>
            </a:pPr>
            <a:r>
              <a:t>ИТОГ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2900" b="1">
                <a:solidFill>
                  <a:srgbClr val="F7F3E8"/>
                </a:solidFill>
                <a:latin typeface="Aptos"/>
              </a:defRPr>
            </a:pPr>
            <a:r>
              <a:t>Автоматизация, которую сообщество действительно замечает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901952"/>
            <a:ext cx="3401568" cy="2359152"/>
          </a:xfrm>
          <a:prstGeom prst="roundRect">
            <a:avLst/>
          </a:prstGeom>
          <a:solidFill>
            <a:srgbClr val="171D28"/>
          </a:solidFill>
          <a:ln>
            <a:solidFill>
              <a:srgbClr val="4FC3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2212848"/>
            <a:ext cx="2926080" cy="3657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2100" b="1">
                <a:solidFill>
                  <a:srgbClr val="4FC3B3"/>
                </a:solidFill>
                <a:latin typeface="Aptos"/>
              </a:defRPr>
            </a:pPr>
            <a:r>
              <a:t>Игроку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2852928"/>
            <a:ext cx="2788920" cy="10515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500" b="0">
                <a:solidFill>
                  <a:srgbClr val="F7F3E8"/>
                </a:solidFill>
                <a:latin typeface="Aptos"/>
              </a:defRPr>
            </a:pPr>
            <a:r>
              <a:t>записаться за минуту,</a:t>
            </a:r>
            <a:br/>
            <a:r>
              <a:t>не пропустить пару,</a:t>
            </a:r>
            <a:br/>
            <a:r>
              <a:t>увидеть свой контекст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901952"/>
            <a:ext cx="3401568" cy="2359152"/>
          </a:xfrm>
          <a:prstGeom prst="roundRect">
            <a:avLst/>
          </a:prstGeom>
          <a:solidFill>
            <a:srgbClr val="171D28"/>
          </a:solidFill>
          <a:ln>
            <a:solidFill>
              <a:srgbClr val="D6A9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59" y="2212848"/>
            <a:ext cx="2926080" cy="3657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2100" b="1">
                <a:solidFill>
                  <a:srgbClr val="D6A928"/>
                </a:solidFill>
                <a:latin typeface="Aptos"/>
              </a:defRPr>
            </a:pPr>
            <a:r>
              <a:t>Организатору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59" y="2852928"/>
            <a:ext cx="2788920" cy="10515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500" b="0">
                <a:solidFill>
                  <a:srgbClr val="F7F3E8"/>
                </a:solidFill>
                <a:latin typeface="Aptos"/>
              </a:defRPr>
            </a:pPr>
            <a:r>
              <a:t>не собирать колоды вручную,</a:t>
            </a:r>
            <a:br/>
            <a:r>
              <a:t>не сводить таблицы,</a:t>
            </a:r>
            <a:br/>
            <a:r>
              <a:t>быстро закрыть турнир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02752" y="1901952"/>
            <a:ext cx="3401568" cy="2359152"/>
          </a:xfrm>
          <a:prstGeom prst="roundRect">
            <a:avLst/>
          </a:prstGeom>
          <a:solidFill>
            <a:srgbClr val="171D28"/>
          </a:solidFill>
          <a:ln>
            <a:solidFill>
              <a:srgbClr val="559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31352" y="2212848"/>
            <a:ext cx="2926080" cy="3657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2100" b="1">
                <a:solidFill>
                  <a:srgbClr val="5591E6"/>
                </a:solidFill>
                <a:latin typeface="Aptos"/>
              </a:defRPr>
            </a:pPr>
            <a:r>
              <a:t>Сообществу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1352" y="2852928"/>
            <a:ext cx="2788920" cy="10515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500" b="0">
                <a:solidFill>
                  <a:srgbClr val="F7F3E8"/>
                </a:solidFill>
                <a:latin typeface="Aptos"/>
              </a:defRPr>
            </a:pPr>
            <a:r>
              <a:t>видеть живую мету,</a:t>
            </a:r>
            <a:br/>
            <a:r>
              <a:t>сохранять историю,</a:t>
            </a:r>
            <a:br/>
            <a:r>
              <a:t>принимать решения по данным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809744"/>
            <a:ext cx="13258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D6A928"/>
                </a:solidFill>
                <a:latin typeface="Aptos"/>
              </a:defRPr>
            </a:pPr>
            <a:r>
              <a:t>Главная идея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5175504"/>
            <a:ext cx="10515600" cy="8412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2400" b="1">
                <a:solidFill>
                  <a:srgbClr val="F7F3E8"/>
                </a:solidFill>
                <a:latin typeface="Aptos"/>
              </a:defRPr>
            </a:pPr>
            <a:r>
              <a:t>MetaGatherer превращает разговор в Telegram в надёжные данные —</a:t>
            </a:r>
            <a:br/>
            <a:r>
              <a:t>и возвращает эти данные людям в момент, когда они полезны.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6528816"/>
            <a:ext cx="960120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6F7888"/>
                </a:solidFill>
                <a:latin typeface="Aptos"/>
              </a:defRPr>
            </a:pPr>
            <a:r>
              <a:t>MetaGatherer ·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492240"/>
            <a:ext cx="54864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defRPr sz="800" b="1">
                <a:solidFill>
                  <a:srgbClr val="D6A928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MetaGatherer — коротко о проекте</dc:title>
  <dc:subject>Презентация для технической аудитории, не знакомой с MTG</dc:subject>
  <dc:creator>MetaGatherer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