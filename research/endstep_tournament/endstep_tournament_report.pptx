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566928"/>
            <a:ext cx="45720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6A928"/>
                </a:solidFill>
                <a:latin typeface="Aptos"/>
              </a:rPr>
              <a:t>ENDSTEP · ИССЛЕДОВАНИЕ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766560" cy="1417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7F3E8"/>
                </a:solidFill>
                <a:latin typeface="Aptos"/>
              </a:rPr>
              <a:t>Стилёк x Концеход
@ Endstep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07792"/>
            <a:ext cx="7589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AAB3C2"/>
                </a:solidFill>
                <a:latin typeface="Aptos"/>
              </a:rPr>
              <a:t>Метагейм турнира · Top 8 · deck choice · удача в парингах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160520"/>
            <a:ext cx="214884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4297680"/>
            <a:ext cx="181965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FC3B3"/>
                </a:solidFill>
                <a:latin typeface="Aptos"/>
              </a:rPr>
              <a:t>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4782312"/>
            <a:ext cx="181965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игрока в публичном результате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160520"/>
            <a:ext cx="196596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4297680"/>
            <a:ext cx="163677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5591E6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4782312"/>
            <a:ext cx="163677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раундов Swiss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4160520"/>
            <a:ext cx="196596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72" y="4297680"/>
            <a:ext cx="163677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A928"/>
                </a:solidFill>
                <a:latin typeface="Apto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4782312"/>
            <a:ext cx="163677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колод в Top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685800"/>
            <a:ext cx="3154680" cy="534924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1133856"/>
            <a:ext cx="73152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0" b="1">
                <a:solidFill>
                  <a:srgbClr val="D6A928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252728"/>
            <a:ext cx="192024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7F3E8"/>
                </a:solidFill>
                <a:latin typeface="Aptos"/>
              </a:rPr>
              <a:t>Orzhov
Glintblade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606040"/>
            <a:ext cx="242316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FC3B3"/>
                </a:solidFill>
                <a:latin typeface="Aptos"/>
              </a:rPr>
              <a:t>Победитель
6–1 в Swiss
2–1 в финале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4910328"/>
            <a:ext cx="242316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AB3C2"/>
                </a:solidFill>
                <a:latin typeface="Aptos"/>
              </a:rPr>
              <a:t>Публичные результаты +
регистрационный срез MetaGatherer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01 · КОНТЕКСТ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Турнир в цифрах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24612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291693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FC3B3"/>
                </a:solidFill>
                <a:latin typeface="Aptos"/>
              </a:rPr>
              <a:t>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291693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участника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572768"/>
            <a:ext cx="324612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09928"/>
            <a:ext cx="291693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5591E6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1693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Swiss-раундов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1572768"/>
            <a:ext cx="324612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09928"/>
            <a:ext cx="291693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A928"/>
                </a:solidFill>
                <a:latin typeface="Aptos"/>
              </a:rPr>
              <a:t>272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91693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сыгранных Swiss-матча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90088"/>
            <a:ext cx="324612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127248"/>
            <a:ext cx="291693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55C787"/>
                </a:solidFill>
                <a:latin typeface="Apto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611880"/>
            <a:ext cx="291693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разных архетипов в Top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2990088"/>
            <a:ext cx="324612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127248"/>
            <a:ext cx="291693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4553D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11880"/>
            <a:ext cx="291693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Affinity в Top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2990088"/>
            <a:ext cx="324612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B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127248"/>
            <a:ext cx="291693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B68CFF"/>
                </a:solidFill>
                <a:latin typeface="Aptos"/>
              </a:rPr>
              <a:t>7–0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611880"/>
            <a:ext cx="291693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лучший Swiss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800600"/>
            <a:ext cx="10881360" cy="960120"/>
          </a:xfrm>
          <a:prstGeom prst="round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01768"/>
            <a:ext cx="15087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6A928"/>
                </a:solidFill>
                <a:latin typeface="Aptos"/>
              </a:rPr>
              <a:t>Сигнал турнира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956048"/>
            <a:ext cx="85953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7F3E8"/>
                </a:solidFill>
                <a:latin typeface="Aptos"/>
              </a:rPr>
              <a:t>Поле не свелось к одной tier-колоде: специализированные планы получили реальный результат.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02 · КАЧЕСТВО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Сначала — важная оговорка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212080" cy="452628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6A928"/>
                </a:solidFill>
                <a:latin typeface="Aptos"/>
              </a:rPr>
              <a:t>Что есть в БД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31720"/>
            <a:ext cx="443484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113 регистраций</a:t>
            </a:r>
          </a:p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110 записей с указанной колодой</a:t>
            </a:r>
          </a:p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91 записи с заполненным general_name</a:t>
            </a:r>
          </a:p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22 записи не нормализованы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17320"/>
            <a:ext cx="5303520" cy="452628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55648"/>
            <a:ext cx="38404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4553D"/>
                </a:solidFill>
                <a:latin typeface="Aptos"/>
              </a:rPr>
              <a:t>Как соединили источники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331720"/>
            <a:ext cx="4480560" cy="21488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7F3E8"/>
                </a:solidFill>
                <a:latin typeface="Aptos"/>
              </a:defRPr>
            </a:pPr>
            <a:r>
              <a:t>• БД: метагейм и названия колод</a:t>
            </a:r>
          </a:p>
          <a:p>
            <a:pPr>
              <a:spcAft>
                <a:spcPts val="500"/>
              </a:spcAft>
              <a:defRPr sz="1700">
                <a:solidFill>
                  <a:srgbClr val="F7F3E8"/>
                </a:solidFill>
                <a:latin typeface="Aptos"/>
              </a:defRPr>
            </a:pPr>
            <a:r>
              <a:t>• Endstep: 284 Swiss pairing rows</a:t>
            </a:r>
          </a:p>
          <a:p>
            <a:pPr>
              <a:spcAft>
                <a:spcPts val="500"/>
              </a:spcAft>
              <a:defRPr sz="1700">
                <a:solidFill>
                  <a:srgbClr val="F7F3E8"/>
                </a:solidFill>
                <a:latin typeface="Aptos"/>
              </a:defRPr>
            </a:pPr>
            <a:r>
              <a:t>• 272 reported-матча после исключения no-show</a:t>
            </a:r>
          </a:p>
          <a:p>
            <a:pPr>
              <a:spcAft>
                <a:spcPts val="500"/>
              </a:spcAft>
              <a:defRPr sz="1700">
                <a:solidFill>
                  <a:srgbClr val="F7F3E8"/>
                </a:solidFill>
                <a:latin typeface="Aptos"/>
              </a:defRPr>
            </a:pPr>
            <a:r>
              <a:t>• 23 decklists классифицированы вручную по семейству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99632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FC3B3"/>
                </a:solidFill>
                <a:latin typeface="Aptos"/>
              </a:rPr>
              <a:t>Production-БД ещё не финализировала турнир; поэтому результаты матчей берём из полной страницы Endstep.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03 · МЕТАГЕЙМ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Реальное поле: 104 деклиста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AB3C2"/>
                </a:solidFill>
                <a:latin typeface="Aptos"/>
              </a:rPr>
              <a:t>семейства стратегий · полный Swiss-срез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27632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Affinity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636776"/>
            <a:ext cx="608076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17152" y="16184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84248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Red Madness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993391"/>
            <a:ext cx="540512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7152" y="1975104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40864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Elves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350008"/>
            <a:ext cx="472948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2331720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97480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Tron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706624"/>
            <a:ext cx="472948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2688336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054096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BG Gardens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3063239"/>
            <a:ext cx="405384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304495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10712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White Aggro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419856"/>
            <a:ext cx="405384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340156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767328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Spy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3776472"/>
            <a:ext cx="405384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3758184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123944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RG Ramp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4133087"/>
            <a:ext cx="405384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4114800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480560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Blue Terror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4489704"/>
            <a:ext cx="337820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17152" y="4471416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837176"/>
            <a:ext cx="21488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7F3E8"/>
                </a:solidFill>
                <a:latin typeface="Aptos"/>
              </a:rPr>
              <a:t>Faeries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4846320"/>
            <a:ext cx="2702560" cy="210312"/>
          </a:xfrm>
          <a:prstGeom prst="rect">
            <a:avLst/>
          </a:prstGeom>
          <a:solidFill>
            <a:srgbClr val="5591E6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7152" y="4828032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1240" y="1444752"/>
            <a:ext cx="1572768" cy="452628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68128" y="1719072"/>
            <a:ext cx="10972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6A928"/>
                </a:solidFill>
                <a:latin typeface="Aptos"/>
              </a:rPr>
              <a:t>Редкие
сигналы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1552" y="2606040"/>
            <a:ext cx="1143000" cy="2148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Sultai Fog
Naya Gates
UR Kiln Fiend
Temur Rogue
White Heroic
WR Tribe
Mardu Synth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5212080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по 1 записи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04 · SWISS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Винрейты колод в полном поле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81381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AB3C2"/>
                </a:solidFill>
                <a:latin typeface="Aptos"/>
              </a:rPr>
              <a:t>MWR = match win rate · только 272 сыгранных Swiss-матча · малые выборки читать осторожно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074920" cy="434340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5C787"/>
                </a:solidFill>
                <a:latin typeface="Aptos"/>
              </a:rPr>
              <a:t>СИЛЬНЕЕ СРЕДНЕГО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Blue Terror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2221992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 · 33 матчей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2776" y="2240280"/>
            <a:ext cx="914857" cy="164592"/>
          </a:xfrm>
          <a:prstGeom prst="rect">
            <a:avLst/>
          </a:prstGeom>
          <a:solidFill>
            <a:srgbClr val="55C787"/>
          </a:solidFill>
          <a:ln w="15240"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2203704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22-11  66.7%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Bogles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706624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4 · 20 матчей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22776" y="2724912"/>
            <a:ext cx="891540" cy="164592"/>
          </a:xfrm>
          <a:prstGeom prst="rect">
            <a:avLst/>
          </a:prstGeom>
          <a:solidFill>
            <a:srgbClr val="55C787"/>
          </a:solidFill>
          <a:ln w="15240"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2688336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13-7  65.0%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Spy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3191256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6 · 32 матчей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22776" y="3209544"/>
            <a:ext cx="857250" cy="164592"/>
          </a:xfrm>
          <a:prstGeom prst="rect">
            <a:avLst/>
          </a:prstGeom>
          <a:solidFill>
            <a:srgbClr val="55C787"/>
          </a:solidFill>
          <a:ln w="15240"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3172968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20-12  62.5%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75888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WB Blade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39" y="3675888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3 · 18 матчей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2776" y="3694176"/>
            <a:ext cx="762609" cy="164592"/>
          </a:xfrm>
          <a:prstGeom prst="rect">
            <a:avLst/>
          </a:prstGeom>
          <a:solidFill>
            <a:srgbClr val="55C787"/>
          </a:solidFill>
          <a:ln w="15240"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3657600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10-8  55.6%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Faeries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39" y="4160520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4 · 20 матчей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22776" y="4178808"/>
            <a:ext cx="754380" cy="164592"/>
          </a:xfrm>
          <a:prstGeom prst="rect">
            <a:avLst/>
          </a:prstGeom>
          <a:solidFill>
            <a:srgbClr val="55C787"/>
          </a:solidFill>
          <a:ln w="15240"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4142232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11-9  55.0%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45152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Affinity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4645152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9 · 43 матчей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22776" y="4663440"/>
            <a:ext cx="733806" cy="164592"/>
          </a:xfrm>
          <a:prstGeom prst="rect">
            <a:avLst/>
          </a:prstGeom>
          <a:solidFill>
            <a:srgbClr val="55C787"/>
          </a:solidFill>
          <a:ln w="15240"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4626864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23-20  53.5%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29784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BG Gardens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39" y="5129784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6 · 35 матчей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22776" y="5148072"/>
            <a:ext cx="705002" cy="164592"/>
          </a:xfrm>
          <a:prstGeom prst="rect">
            <a:avLst/>
          </a:prstGeom>
          <a:solidFill>
            <a:srgbClr val="55C787"/>
          </a:solidFill>
          <a:ln w="15240"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2896" y="5111496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18-17  51.4%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1572768"/>
            <a:ext cx="5074920" cy="434340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810512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553D"/>
                </a:solidFill>
                <a:latin typeface="Aptos"/>
              </a:rPr>
              <a:t>СЛАБЕЕ / НЕСТАБИЛЬНЕЕ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221992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Elves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2221992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7 · 45 матчей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09176" y="2240280"/>
            <a:ext cx="700887" cy="164592"/>
          </a:xfrm>
          <a:prstGeom prst="rect">
            <a:avLst/>
          </a:prstGeom>
          <a:solidFill>
            <a:srgbClr val="55C787"/>
          </a:solidFill>
          <a:ln w="15240"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69296" y="2203704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23-22  51.1%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706624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Red Madness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2706624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8 · 44 матчей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09176" y="2724912"/>
            <a:ext cx="654253" cy="164592"/>
          </a:xfrm>
          <a:prstGeom prst="rect">
            <a:avLst/>
          </a:prstGeom>
          <a:solidFill>
            <a:srgbClr val="E4553D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69296" y="2688336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21-23  47.7%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191256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White Aggro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3191256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6 · 32 матчей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09176" y="3209544"/>
            <a:ext cx="643280" cy="164592"/>
          </a:xfrm>
          <a:prstGeom prst="rect">
            <a:avLst/>
          </a:prstGeom>
          <a:solidFill>
            <a:srgbClr val="E4553D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69296" y="3172968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15-17  46.9%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675888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MBC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3675888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4 · 18 матчей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09176" y="3694176"/>
            <a:ext cx="533552" cy="164592"/>
          </a:xfrm>
          <a:prstGeom prst="rect">
            <a:avLst/>
          </a:prstGeom>
          <a:solidFill>
            <a:srgbClr val="E4553D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69296" y="3657600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7-11  38.9%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160520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Tron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4160520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7 · 35 матчей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9176" y="4178808"/>
            <a:ext cx="430682" cy="164592"/>
          </a:xfrm>
          <a:prstGeom prst="rect">
            <a:avLst/>
          </a:prstGeom>
          <a:solidFill>
            <a:srgbClr val="E4553D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69296" y="4142232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11-24  31.4%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645152"/>
            <a:ext cx="1444752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RG Ramp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645152"/>
            <a:ext cx="141732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6 · 26 матчей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09176" y="4663440"/>
            <a:ext cx="368960" cy="164592"/>
          </a:xfrm>
          <a:prstGeom prst="rect">
            <a:avLst/>
          </a:prstGeom>
          <a:solidFill>
            <a:srgbClr val="E4553D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69296" y="4626864"/>
            <a:ext cx="594360" cy="2103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7-19  26.9%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4128" y="6080760"/>
            <a:ext cx="10104120" cy="347472"/>
          </a:xfrm>
          <a:prstGeom prst="round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07008" y="6163056"/>
            <a:ext cx="973836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Aptos"/>
              </a:rPr>
              <a:t>Лучшие устойчивые сигналы: Blue Terror 66.7%, Bogles 65.0%, Spy 62.5% · Affinity — 53.5% при 9 участниках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05 ·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Турнирный MWR против MTGDecks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7863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AB3C2"/>
                </a:solidFill>
                <a:latin typeface="Aptos"/>
              </a:rPr>
              <a:t>MTGDecks: Overall · ALL · 180 дней и 30 дней · проценты округлены как на сайте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36192"/>
            <a:ext cx="10881360" cy="4553712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СЕМЕЙСТВО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73936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177393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ENDSTEP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773936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180D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773936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30D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1773936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1773936"/>
            <a:ext cx="23774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MTGDecks proxy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2057400"/>
            <a:ext cx="10378440" cy="256032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84831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Elves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084831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2084831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51.1%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08483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8483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51.0%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2084831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5C787"/>
                </a:solidFill>
                <a:latin typeface="Aptos"/>
              </a:rPr>
              <a:t>+1.1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2084831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Elves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404872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Red Madness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40487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2404872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47.7%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404872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51.0%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404872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51.0%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2404872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E4553D"/>
                </a:solidFill>
                <a:latin typeface="Aptos"/>
              </a:rPr>
              <a:t>-3.3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2404872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Mono Red Madness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" y="2697479"/>
            <a:ext cx="10378440" cy="256032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24911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Affinity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2724911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191" y="2724911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53.5%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272491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72491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2724911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5C787"/>
                </a:solidFill>
                <a:latin typeface="Aptos"/>
              </a:rPr>
              <a:t>+1.4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2724911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Grixis + Esper + Dimir Affinity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044951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Tron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3044951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2191" y="3044951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31.4%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04495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50.6%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04495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50.5%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3044951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E4553D"/>
                </a:solidFill>
                <a:latin typeface="Aptos"/>
              </a:rPr>
              <a:t>-19.2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044951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Monster + Flicker + Altar Tron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" y="3337560"/>
            <a:ext cx="10378440" cy="256032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3364991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BG Gardens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3364991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2191" y="3364991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51.4%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336499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50.0%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336499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48.0%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3364991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5C787"/>
                </a:solidFill>
                <a:latin typeface="Aptos"/>
              </a:rPr>
              <a:t>+1.4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1" y="3364991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Golgari Gardens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3685031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Blue Terror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3685031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22191" y="3685031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66.7%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368503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51.0%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368503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49.0%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05472" y="3685031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5C787"/>
                </a:solidFill>
                <a:latin typeface="Aptos"/>
              </a:rPr>
              <a:t>+15.7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28431" y="3685031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Mono Blue Terror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" y="3977639"/>
            <a:ext cx="10378440" cy="256032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4005071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White Aggro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4005071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22191" y="4005071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46.9%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400507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50.0%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00507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52.0%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5472" y="4005071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E4553D"/>
                </a:solidFill>
                <a:latin typeface="Aptos"/>
              </a:rPr>
              <a:t>-3.1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28431" y="4005071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White Weenie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4325112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Spy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0" y="432511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22191" y="4325112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62.5%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66360" y="4325112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55.0%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4325112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57.0%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05472" y="4325112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5C787"/>
                </a:solidFill>
                <a:latin typeface="Aptos"/>
              </a:rPr>
              <a:t>+7.5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28431" y="4325112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Spy Combo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" y="4617720"/>
            <a:ext cx="10378440" cy="256032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4645152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RG Ramp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08960" y="464515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22191" y="4645152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26.9%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360" y="4645152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51.0%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4645152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50.0%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05472" y="4645152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E4553D"/>
                </a:solidFill>
                <a:latin typeface="Aptos"/>
              </a:rPr>
              <a:t>-24.1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645152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Gruul Ramp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4965192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Faeries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8960" y="4965192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22191" y="4965192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55.0%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66360" y="4965192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51.0%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2200" y="4965192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52.0%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5472" y="4965192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5C787"/>
                </a:solidFill>
                <a:latin typeface="Aptos"/>
              </a:rPr>
              <a:t>+4.0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28431" y="4965192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UB Faeries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9536" y="5257799"/>
            <a:ext cx="10378440" cy="256032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4400" y="5285231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Bogles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08960" y="5285231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22191" y="5285231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65.0%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66360" y="528523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51.0%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72200" y="528523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52.0%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05472" y="5285231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5C787"/>
                </a:solidFill>
                <a:latin typeface="Aptos"/>
              </a:rPr>
              <a:t>+14.0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28431" y="5285231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GW Bogles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5605271"/>
            <a:ext cx="193852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WB Blade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08960" y="5605271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22191" y="5605271"/>
            <a:ext cx="658368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7F3E8"/>
                </a:solidFill>
                <a:latin typeface="Aptos"/>
              </a:rPr>
              <a:t>55.6%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66360" y="560527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46.0%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5605271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44.0%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05472" y="5605271"/>
            <a:ext cx="411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5C787"/>
                </a:solidFill>
                <a:latin typeface="Aptos"/>
              </a:rPr>
              <a:t>+9.6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28431" y="5605271"/>
            <a:ext cx="2743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AB3C2"/>
                </a:solidFill>
                <a:latin typeface="Aptos"/>
              </a:rPr>
              <a:t>Orzhov Blade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" y="6236208"/>
            <a:ext cx="105156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7F3E8"/>
                </a:solidFill>
                <a:latin typeface="Aptos"/>
              </a:rPr>
              <a:t>Сильное совпадение: Affinity +1.4 п.п. · главный локальный разрыв: RG Ramp −24.1 п.п. и Tron −19.2 п.п.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06 · DECK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Победитель и финалист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5303520" cy="452628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6A928"/>
                </a:solidFill>
                <a:latin typeface="Aptos"/>
              </a:rPr>
              <a:t>1 · ORZHOV GLINTBLADE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2062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FC3B3"/>
                </a:solidFill>
                <a:latin typeface="Aptos"/>
              </a:rPr>
              <a:t>6–1 Swiss · финал 2–1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06040"/>
            <a:ext cx="4480560" cy="1600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7F3E8"/>
                </a:solidFill>
                <a:latin typeface="Aptos"/>
              </a:defRPr>
            </a:pPr>
            <a:r>
              <a:t>• 4 Glint Hawk · 4 Kor Skyfisher</a:t>
            </a:r>
          </a:p>
          <a:p>
            <a:pPr>
              <a:spcAft>
                <a:spcPts val="500"/>
              </a:spcAft>
              <a:defRPr sz="1600">
                <a:solidFill>
                  <a:srgbClr val="F7F3E8"/>
                </a:solidFill>
                <a:latin typeface="Aptos"/>
              </a:defRPr>
            </a:pPr>
            <a:r>
              <a:t>• 4 Refurbished Familiar · 4 Lembas</a:t>
            </a:r>
          </a:p>
          <a:p>
            <a:pPr>
              <a:spcAft>
                <a:spcPts val="500"/>
              </a:spcAft>
              <a:defRPr sz="1600">
                <a:solidFill>
                  <a:srgbClr val="F7F3E8"/>
                </a:solidFill>
                <a:latin typeface="Aptos"/>
              </a:defRPr>
            </a:pPr>
            <a:r>
              <a:t>• 4 Dispatch · 4 Thraben Charm</a:t>
            </a:r>
          </a:p>
          <a:p>
            <a:pPr>
              <a:spcAft>
                <a:spcPts val="500"/>
              </a:spcAft>
              <a:defRPr sz="1600">
                <a:solidFill>
                  <a:srgbClr val="F7F3E8"/>
                </a:solidFill>
                <a:latin typeface="Aptos"/>
              </a:defRPr>
            </a:pPr>
            <a:r>
              <a:t>• side: 4 Dust to Dust + 3 Temporal Intervention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074920"/>
            <a:ext cx="44805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7F3E8"/>
                </a:solidFill>
                <a:latin typeface="Aptos"/>
              </a:rPr>
              <a:t>Value + tempo + широкий removal. Sideboard прямо уважает Affinity.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25880"/>
            <a:ext cx="5303520" cy="452628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627632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FC3B3"/>
                </a:solidFill>
                <a:latin typeface="Aptos"/>
              </a:rPr>
              <a:t>2 · IZZET SKRED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93392"/>
            <a:ext cx="42062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6A928"/>
                </a:solidFill>
                <a:latin typeface="Aptos"/>
              </a:rPr>
              <a:t>6–1 Swiss · финал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06040"/>
            <a:ext cx="4480560" cy="1600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7F3E8"/>
                </a:solidFill>
                <a:latin typeface="Aptos"/>
              </a:defRPr>
            </a:pPr>
            <a:r>
              <a:t>• 4 Skred · 4 Counterspell · 4 Spell Pierce</a:t>
            </a:r>
          </a:p>
          <a:p>
            <a:pPr>
              <a:spcAft>
                <a:spcPts val="500"/>
              </a:spcAft>
              <a:defRPr sz="1600">
                <a:solidFill>
                  <a:srgbClr val="F7F3E8"/>
                </a:solidFill>
                <a:latin typeface="Aptos"/>
              </a:defRPr>
            </a:pPr>
            <a:r>
              <a:t>• 4 Brainstorm · 4 Lórien Revealed</a:t>
            </a:r>
          </a:p>
          <a:p>
            <a:pPr>
              <a:spcAft>
                <a:spcPts val="500"/>
              </a:spcAft>
              <a:defRPr sz="1600">
                <a:solidFill>
                  <a:srgbClr val="F7F3E8"/>
                </a:solidFill>
                <a:latin typeface="Aptos"/>
              </a:defRPr>
            </a:pPr>
            <a:r>
              <a:t>• 4 Plunder the Trollshaws</a:t>
            </a:r>
          </a:p>
          <a:p>
            <a:pPr>
              <a:spcAft>
                <a:spcPts val="500"/>
              </a:spcAft>
              <a:defRPr sz="1600">
                <a:solidFill>
                  <a:srgbClr val="F7F3E8"/>
                </a:solidFill>
                <a:latin typeface="Aptos"/>
              </a:defRPr>
            </a:pPr>
            <a:r>
              <a:t>• side: 4 Hydroblast · 4 Pyroblast · 3 Vandalblast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5074920"/>
            <a:ext cx="44805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7F3E8"/>
                </a:solidFill>
                <a:latin typeface="Aptos"/>
              </a:rPr>
              <a:t>Контроль темпа: дешёвые ответы и много card selection.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07 · OVERPERFORMANCE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Affinity — главный мета-сигнал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274320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554480"/>
            <a:ext cx="241401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5591E6"/>
                </a:solidFill>
                <a:latin typeface="Aptos"/>
              </a:rPr>
              <a:t>7 / 113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039112"/>
            <a:ext cx="241401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Affinity в регистрациях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417320"/>
            <a:ext cx="274320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1" y="1554480"/>
            <a:ext cx="241401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4553D"/>
                </a:solidFill>
                <a:latin typeface="Aptos"/>
              </a:rPr>
              <a:t>2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1" y="2039112"/>
            <a:ext cx="241401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Affinity в Top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4848" y="1417320"/>
            <a:ext cx="2743200" cy="1024128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554480"/>
            <a:ext cx="2414016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A928"/>
                </a:solidFill>
                <a:latin typeface="Aptos"/>
              </a:rPr>
              <a:t>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039112"/>
            <a:ext cx="2414016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AB3C2"/>
                </a:solidFill>
                <a:latin typeface="Aptos"/>
              </a:rPr>
              <a:t>примерный uplift доли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880360"/>
            <a:ext cx="5257800" cy="260604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82112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5591E6"/>
                </a:solidFill>
                <a:latin typeface="Aptos"/>
              </a:rPr>
              <a:t>Dimir Affinity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675887"/>
            <a:ext cx="4389120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7F3E8"/>
                </a:solidFill>
                <a:latin typeface="Aptos"/>
              </a:rPr>
              <a:t>Myr Enforcer · Refurbished Familiar
Thoughtcast · Reckoner's Bargain
Giant's Boulder
3–4 место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880360"/>
            <a:ext cx="5257800" cy="260604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182112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4553D"/>
                </a:solidFill>
                <a:latin typeface="Aptos"/>
              </a:rPr>
              <a:t>Grixis Affinity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675887"/>
            <a:ext cx="4389120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7F3E8"/>
                </a:solidFill>
                <a:latin typeface="Aptos"/>
              </a:rPr>
              <a:t>Myr Enforcer · Refurbished Familiar
Utrom Monitor · Thoughtcast
Cast Down · discard
3–4 место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08 · ROGUE DECKS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Самые интересные малопопулярные колоды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3401568" cy="416052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6A928"/>
                </a:solidFill>
                <a:latin typeface="Aptos"/>
              </a:rPr>
              <a:t>Aura Hexproof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7F3E8"/>
                </a:solidFill>
                <a:latin typeface="Aptos"/>
              </a:rPr>
              <a:t>7–0 Swiss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28346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7F3E8"/>
                </a:solidFill>
                <a:latin typeface="Aptos"/>
              </a:rPr>
              <a:t>4 Bogle · 4 Scout · 4 Rancor · 4 Cloak · 4 Mask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70832"/>
            <a:ext cx="2560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AB3C2"/>
                </a:solidFill>
                <a:latin typeface="Aptos"/>
              </a:rPr>
              <a:t>Почему интересно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81728"/>
            <a:ext cx="278892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Линейная колода наказывает отсутствие edict и массовых ответов.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08760"/>
            <a:ext cx="3401568" cy="416052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B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847088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68CFF"/>
                </a:solidFill>
                <a:latin typeface="Aptos"/>
              </a:rPr>
              <a:t>Balustrade Spy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542032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7F3E8"/>
                </a:solidFill>
                <a:latin typeface="Aptos"/>
              </a:rPr>
              <a:t>Top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127248"/>
            <a:ext cx="28346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7F3E8"/>
                </a:solidFill>
                <a:latin typeface="Aptos"/>
              </a:rPr>
              <a:t>4 Spy · 4 Land Grant · 4 Winding Way · 3 Petal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4370832"/>
            <a:ext cx="2560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AB3C2"/>
                </a:solidFill>
                <a:latin typeface="Aptos"/>
              </a:rPr>
              <a:t>Почему интересно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4681728"/>
            <a:ext cx="278892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Комбо с экстремально низкой земельной базой.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508760"/>
            <a:ext cx="3401568" cy="416052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1847088"/>
            <a:ext cx="28346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FC3B3"/>
                </a:solidFill>
                <a:latin typeface="Aptos"/>
              </a:rPr>
              <a:t>Simic Petitioners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542032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7F3E8"/>
                </a:solidFill>
                <a:latin typeface="Aptos"/>
              </a:rPr>
              <a:t>Top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3127248"/>
            <a:ext cx="28346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7F3E8"/>
                </a:solidFill>
                <a:latin typeface="Aptos"/>
              </a:rPr>
              <a:t>11 Petitioners · 4 Glistener Seer · mill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4370832"/>
            <a:ext cx="25603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AB3C2"/>
                </a:solidFill>
                <a:latin typeface="Aptos"/>
              </a:rPr>
              <a:t>Почему интересно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4681728"/>
            <a:ext cx="278892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Неожиданный tribal/engine-план с 11 Persistent Petitioners.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09 · SWISS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Кого побеждал чемпион в 7 раундах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7772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AB3C2"/>
                </a:solidFill>
                <a:latin typeface="Aptos"/>
              </a:rPr>
              <a:t>Orzhov Glintblade · итог 6–1 · в скобках — итоговый Swiss-рекорд соперника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27632"/>
            <a:ext cx="10771632" cy="438912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65376"/>
            <a:ext cx="685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РАУНД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1865376"/>
            <a:ext cx="2926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СОПЕРНИК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865376"/>
            <a:ext cx="10972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865376"/>
            <a:ext cx="1645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ФИНИШ СОПЕРНИКА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67128"/>
            <a:ext cx="10195560" cy="310896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212848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212848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Ashnod's Altar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12848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5C787"/>
                </a:solidFill>
                <a:latin typeface="Aptos"/>
              </a:rPr>
              <a:t>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212848"/>
            <a:ext cx="685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1-2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679191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2679191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Infect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79191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5C787"/>
                </a:solidFill>
                <a:latin typeface="Aptos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679191"/>
            <a:ext cx="685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3-4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099816"/>
            <a:ext cx="10195560" cy="310896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145536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314553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BG Gardens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145536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5C787"/>
                </a:solidFill>
                <a:latin typeface="Aptos"/>
              </a:rPr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145536"/>
            <a:ext cx="685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5-2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611880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3611880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Red Madness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61188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5C787"/>
                </a:solidFill>
                <a:latin typeface="Aptos"/>
              </a:rPr>
              <a:t>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611880"/>
            <a:ext cx="685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3-2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032504"/>
            <a:ext cx="10195560" cy="310896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078224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1952" y="4078224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UR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078224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5C787"/>
                </a:solidFill>
                <a:latin typeface="Aptos"/>
              </a:rPr>
              <a:t>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078224"/>
            <a:ext cx="685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4-3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4544568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1952" y="4544568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Affinity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544568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4553D"/>
                </a:solidFill>
                <a:latin typeface="Aptos"/>
              </a:rPr>
              <a:t>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544568"/>
            <a:ext cx="685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965192"/>
            <a:ext cx="10195560" cy="310896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010912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1952" y="5010912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Elves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01091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5C787"/>
                </a:solidFill>
                <a:latin typeface="Aptos"/>
              </a:rPr>
              <a:t>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010912"/>
            <a:ext cx="6858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5-2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199632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Расписание не было пустым: 3 из 7 соперников закончили Swiss с результатом 5–2 или лучше; единственное поражение — Affinity 6–1.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10 · TOP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Результат объясняет не только удача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6400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AB3C2"/>
                </a:solidFill>
                <a:latin typeface="Aptos"/>
              </a:rPr>
              <a:t>Официальная Swiss-таблица Top 8 · OMW = сила расписания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7223760" cy="443484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47088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МЕСТО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47088"/>
            <a:ext cx="3017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КОЛОДА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84708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SWISS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4708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OMW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185416"/>
            <a:ext cx="6720840" cy="292608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2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6A928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21992"/>
            <a:ext cx="3246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WB Blade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21992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21992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60.27%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60904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660904"/>
            <a:ext cx="3246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UR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660904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60904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4FC3B3"/>
                </a:solidFill>
                <a:latin typeface="Aptos"/>
              </a:rPr>
              <a:t>63.90%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063240"/>
            <a:ext cx="6720840" cy="292608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099816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099816"/>
            <a:ext cx="3246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Affinity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099816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099816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4FC3B3"/>
                </a:solidFill>
                <a:latin typeface="Aptos"/>
              </a:rPr>
              <a:t>66.53%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38728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538728"/>
            <a:ext cx="3246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UB Affinity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53872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5-2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53872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4FC3B3"/>
                </a:solidFill>
                <a:latin typeface="Aptos"/>
              </a:rPr>
              <a:t>63.27%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941063"/>
            <a:ext cx="6720840" cy="292608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977639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977639"/>
            <a:ext cx="3246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Blue Terror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977639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7-0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977639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61.45%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416552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416552"/>
            <a:ext cx="3246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Bogles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4416552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6-1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416552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61.86%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818888"/>
            <a:ext cx="6720840" cy="292608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855464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4855464"/>
            <a:ext cx="3246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Spy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4855464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6-1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855464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52.88%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294376"/>
            <a:ext cx="3200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5294376"/>
            <a:ext cx="3246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Simic Petitioners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5294376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7F3E8"/>
                </a:solidFill>
                <a:latin typeface="Aptos"/>
              </a:rPr>
              <a:t>5-2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5294376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4FC3B3"/>
                </a:solidFill>
                <a:latin typeface="Aptos"/>
              </a:rPr>
              <a:t>77.55%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5320" y="1600200"/>
            <a:ext cx="3200400" cy="443484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1901952"/>
            <a:ext cx="24688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4FC3B3"/>
                </a:solidFill>
                <a:latin typeface="Aptos"/>
              </a:rPr>
              <a:t>Что важно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7072" y="2514600"/>
            <a:ext cx="251460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7F3E8"/>
                </a:solidFill>
                <a:latin typeface="Aptos"/>
              </a:defRPr>
            </a:pPr>
            <a:r>
              <a:t>• У чемпиона OMW 60.27% — не лёгкое расписание.</a:t>
            </a:r>
          </a:p>
          <a:p>
            <a:pPr>
              <a:spcAft>
                <a:spcPts val="500"/>
              </a:spcAft>
              <a:defRPr sz="1500">
                <a:solidFill>
                  <a:srgbClr val="F7F3E8"/>
                </a:solidFill>
                <a:latin typeface="Aptos"/>
              </a:defRPr>
            </a:pPr>
            <a:r>
              <a:t>• У Petitioners OMW 77.55% — самый сильный Swiss среди Top 8.</a:t>
            </a:r>
          </a:p>
          <a:p>
            <a:pPr>
              <a:spcAft>
                <a:spcPts val="500"/>
              </a:spcAft>
              <a:defRPr sz="1500">
                <a:solidFill>
                  <a:srgbClr val="F7F3E8"/>
                </a:solidFill>
                <a:latin typeface="Aptos"/>
              </a:defRPr>
            </a:pPr>
            <a:r>
              <a:t>• 7–0 Blue Terror не конвертировал преимущество в Top 4.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11 · ИНСАЙТЫ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Что подтверждено — и что удивляет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5074920" cy="1874519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00784"/>
            <a:ext cx="4389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4553D"/>
                </a:solidFill>
                <a:latin typeface="Aptos"/>
              </a:rPr>
              <a:t>ПОДТВЕРЖДЕНО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7F3E8"/>
                </a:solidFill>
                <a:latin typeface="Aptos"/>
              </a:rPr>
              <a:t>Affinity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443484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53.5% здесь и около 52% у MTGDecks: стратегия действительно сильна, но её Top 8 — это конвертация, а не тотальное доминирование.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444752"/>
            <a:ext cx="5074920" cy="1874519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00784"/>
            <a:ext cx="4389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НЕОЖИДАННО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11680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7F3E8"/>
                </a:solidFill>
                <a:latin typeface="Aptos"/>
              </a:rPr>
              <a:t>Tron / RG Ramp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450592"/>
            <a:ext cx="443484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31.4% и 26.9% в турнире против примерно 50% снаружи. Локальное поле оказалось для этих планов очень жёстким.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76472"/>
            <a:ext cx="5074920" cy="1874519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032504"/>
            <a:ext cx="4389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FC3B3"/>
                </a:solidFill>
                <a:latin typeface="Aptos"/>
              </a:rPr>
              <a:t>ЛОКАЛЬНЫЙ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343400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7F3E8"/>
                </a:solidFill>
                <a:latin typeface="Aptos"/>
              </a:rPr>
              <a:t>Blue Terror / Bogles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782312"/>
            <a:ext cx="443484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66.7% и 65.0% против 49–52% в коротком benchmark. Сильный результат, но 33 и 20 матчей не заменяют длинную дистанцию.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776472"/>
            <a:ext cx="5074920" cy="1874519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B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4032504"/>
            <a:ext cx="4389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68CFF"/>
                </a:solidFill>
                <a:latin typeface="Aptos"/>
              </a:rPr>
              <a:t>ФАКТ О TOP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343400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7F3E8"/>
                </a:solidFill>
                <a:latin typeface="Aptos"/>
              </a:rPr>
              <a:t>Petitioners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782312"/>
            <a:ext cx="4434840" cy="6217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7F3E8"/>
                </a:solidFill>
                <a:latin typeface="Aptos"/>
              </a:rPr>
              <a:t>5–2 при OMW 77.55% — самый сильный Swiss-срез Top 8. Это не лёгкая ветка, а настоящий rogue-результат.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99632"/>
            <a:ext cx="10515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7F3E8"/>
                </a:solidFill>
                <a:latin typeface="Aptos"/>
              </a:rPr>
              <a:t>Главный вывод: общий benchmark объясняет направление, но не заменяет matchup-структуру конкретного турнира.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12 · BRACKET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Кого побеждали в Top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5943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AB3C2"/>
                </a:solidFill>
                <a:latin typeface="Aptos"/>
              </a:rPr>
              <a:t>Публичный bracket · это не полный список Swiss-матчей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3108960" cy="246888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6A928"/>
                </a:solidFill>
                <a:latin typeface="Aptos"/>
              </a:rPr>
              <a:t>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51760"/>
            <a:ext cx="237744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7F3E8"/>
                </a:solidFill>
                <a:latin typeface="Aptos"/>
              </a:rPr>
              <a:t>ORZHOV
GLINTBLADE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493008"/>
            <a:ext cx="24688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AB3C2"/>
                </a:solidFill>
                <a:latin typeface="Aptos"/>
              </a:rPr>
              <a:t>vs Aura Hexproof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212848"/>
            <a:ext cx="566928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D6A928"/>
                </a:solidFill>
                <a:latin typeface="Aptos"/>
              </a:rPr>
              <a:t>2–0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2834640"/>
            <a:ext cx="4572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AAB3C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938528"/>
            <a:ext cx="3108960" cy="246888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B6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221284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68CFF"/>
                </a:solidFill>
                <a:latin typeface="Aptos"/>
              </a:rPr>
              <a:t>1/2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651760"/>
            <a:ext cx="237744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7F3E8"/>
                </a:solidFill>
                <a:latin typeface="Aptos"/>
              </a:rPr>
              <a:t>ORZHOV
GLINTBLADE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3493008"/>
            <a:ext cx="24688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AB3C2"/>
                </a:solidFill>
                <a:latin typeface="Aptos"/>
              </a:rPr>
              <a:t>vs Balustrade Spy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212848"/>
            <a:ext cx="566928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B68CFF"/>
                </a:solidFill>
                <a:latin typeface="Aptos"/>
              </a:rPr>
              <a:t>2–1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4572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AAB3C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938528"/>
            <a:ext cx="3108960" cy="246888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6" y="2212848"/>
            <a:ext cx="1097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FC3B3"/>
                </a:solidFill>
                <a:latin typeface="Aptos"/>
              </a:rPr>
              <a:t>ФИНАЛ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2651760"/>
            <a:ext cx="237744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7F3E8"/>
                </a:solidFill>
                <a:latin typeface="Aptos"/>
              </a:rPr>
              <a:t>ORZHOV
GLINTBLADE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3493008"/>
            <a:ext cx="24688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AB3C2"/>
                </a:solidFill>
                <a:latin typeface="Aptos"/>
              </a:rPr>
              <a:t>vs Izzet Skred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3032" y="2212848"/>
            <a:ext cx="566928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4FC3B3"/>
                </a:solidFill>
                <a:latin typeface="Aptos"/>
              </a:rPr>
              <a:t>2–1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83480"/>
            <a:ext cx="10442448" cy="731520"/>
          </a:xfrm>
          <a:prstGeom prst="round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193792"/>
            <a:ext cx="99212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7F3E8"/>
                </a:solidFill>
                <a:latin typeface="Aptos"/>
              </a:rPr>
              <a:t>Параллельная ветка: Dimir Affinity 2–1 Mono Blue Terror · Grixis Affinity 2–0 Petitioners · Izzet Skred 2–0 Spy и 2–1 Grixis Affinity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13 · ИНТЕРПРЕТАЦИЯ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Насколько повезло с парингами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230368" cy="443484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6A928"/>
                </a:solidFill>
                <a:latin typeface="Aptos"/>
              </a:rPr>
              <a:t>В пользу удачи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38912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0 из 2 Affinity в пути чемпиона</a:t>
            </a:r>
          </a:p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Affinity заняла половину Top 4</a:t>
            </a:r>
          </a:p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В четвертьфинале — Aura, а не Affinity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230368" cy="4434840"/>
          </a:xfrm>
          <a:prstGeom prst="roundRect">
            <a:avLst/>
          </a:prstGeom>
          <a:solidFill>
            <a:srgbClr val="1D2633"/>
          </a:solidFill>
          <a:ln w="15240"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4FC3B3"/>
                </a:solidFill>
                <a:latin typeface="Aptos"/>
              </a:rPr>
              <a:t>В пользу качества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389120" cy="1508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2–1 над Spy и 2–1 в финале</a:t>
            </a:r>
          </a:p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4 Dust to Dust заранее закрывают Affinity</a:t>
            </a:r>
          </a:p>
          <a:p>
            <a:pPr>
              <a:spcAft>
                <a:spcPts val="500"/>
              </a:spcAft>
              <a:defRPr sz="1800">
                <a:solidFill>
                  <a:srgbClr val="F7F3E8"/>
                </a:solidFill>
                <a:latin typeface="Aptos"/>
              </a:defRPr>
            </a:pPr>
            <a:r>
              <a:t>• Swiss 6–1 подтверждает стабильность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7F3E8"/>
                </a:solidFill>
                <a:latin typeface="Aptos"/>
              </a:rPr>
              <a:t>Итог: bracket был благоприятным, но «случайной победой» результат не выглядит.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6A928"/>
                </a:solidFill>
                <a:latin typeface="Aptos"/>
              </a:rPr>
              <a:t>14 ·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3E8"/>
                </a:solidFill>
                <a:latin typeface="Aptos"/>
              </a:rPr>
              <a:t>Что забираем из турнира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310896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AB3C2"/>
                </a:solidFill>
                <a:latin typeface="Aptos"/>
              </a:rPr>
              <a:t>ENDSTEP ·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72184"/>
            <a:ext cx="457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6A92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173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6A928"/>
                </a:solidFill>
                <a:latin typeface="Aptos"/>
              </a:rPr>
              <a:t>Deck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78181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7F3E8"/>
                </a:solidFill>
                <a:latin typeface="Aptos"/>
              </a:rPr>
              <a:t>Orzhov Glintblade — рациональный выбор против артефактов и creature-heavy поля.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075688"/>
            <a:ext cx="9646920" cy="13716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457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4553D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551176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4553D"/>
                </a:solidFill>
                <a:latin typeface="Aptos"/>
              </a:rPr>
              <a:t>Главный сигнал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551176"/>
            <a:ext cx="78181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7F3E8"/>
                </a:solidFill>
                <a:latin typeface="Aptos"/>
              </a:rPr>
              <a:t>Affinity: 2 из 8 Top 8 при 7 регистрациях из 113.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09544"/>
            <a:ext cx="9646920" cy="13716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739896"/>
            <a:ext cx="457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B68C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685032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B68CFF"/>
                </a:solidFill>
                <a:latin typeface="Aptos"/>
              </a:rPr>
              <a:t>Rogue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685032"/>
            <a:ext cx="78181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7F3E8"/>
                </a:solidFill>
                <a:latin typeface="Aptos"/>
              </a:rPr>
              <a:t>Petitioners, Spy и Aura показали, что узкий план может конвертироваться в результат.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343400"/>
            <a:ext cx="9646920" cy="13716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873751"/>
            <a:ext cx="457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FC3B3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818888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FC3B3"/>
                </a:solidFill>
                <a:latin typeface="Aptos"/>
              </a:rPr>
              <a:t>Следующий шаг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818888"/>
            <a:ext cx="78181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7F3E8"/>
                </a:solidFill>
                <a:latin typeface="Aptos"/>
              </a:rPr>
              <a:t>Сохранить Swiss pairings в БД и повторять такой matchup-анализ автоматически.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5477255"/>
            <a:ext cx="9646920" cy="13716"/>
          </a:xfrm>
          <a:prstGeom prst="rect">
            <a:avLst/>
          </a:prstGeom>
          <a:solidFill>
            <a:srgbClr val="253244"/>
          </a:solidFill>
          <a:ln w="15240">
            <a:solidFill>
              <a:srgbClr val="25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035040"/>
            <a:ext cx="10515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AAB3C2"/>
                </a:solidFill>
                <a:latin typeface="Aptos"/>
              </a:rPr>
              <a:t>Источники: MTGTop8 · публичный Endstep result · агрегаты MetaGatherer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547104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AB3C2"/>
                </a:solidFill>
                <a:latin typeface="Aptos"/>
              </a:rPr>
              <a:t>MetaGatherer research · 03.10.2026 · агрегаты без персональных данных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